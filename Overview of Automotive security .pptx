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64" r:id="rId2"/>
    <p:sldId id="295" r:id="rId3"/>
    <p:sldId id="298" r:id="rId4"/>
    <p:sldId id="316" r:id="rId5"/>
    <p:sldId id="323" r:id="rId6"/>
    <p:sldId id="324" r:id="rId7"/>
    <p:sldId id="299" r:id="rId8"/>
    <p:sldId id="317" r:id="rId9"/>
    <p:sldId id="318" r:id="rId10"/>
    <p:sldId id="325" r:id="rId11"/>
    <p:sldId id="319" r:id="rId12"/>
    <p:sldId id="320" r:id="rId13"/>
    <p:sldId id="321" r:id="rId14"/>
    <p:sldId id="296"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22" r:id="rId31"/>
    <p:sldId id="315" r:id="rId32"/>
    <p:sldId id="2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nnadhasan, Amarnath" initials="KA" lastIdx="4" clrIdx="0">
    <p:extLst>
      <p:ext uri="{19B8F6BF-5375-455C-9EA6-DF929625EA0E}">
        <p15:presenceInfo xmlns:p15="http://schemas.microsoft.com/office/powerpoint/2012/main" userId="S::Amarnath.Kannadhasan@elektrobit.com::c595a89d-1c23-4b58-9d02-31e027479b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97" autoAdjust="0"/>
  </p:normalViewPr>
  <p:slideViewPr>
    <p:cSldViewPr snapToGrid="0">
      <p:cViewPr>
        <p:scale>
          <a:sx n="96" d="100"/>
          <a:sy n="96" d="100"/>
        </p:scale>
        <p:origin x="312" y="4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ATTACK VECTORS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138850954199951E-2"/>
          <c:y val="0.12616686002289546"/>
          <c:w val="0.77444324061111447"/>
          <c:h val="0.81139285466986888"/>
        </c:manualLayout>
      </c:layout>
      <c:bar3DChart>
        <c:barDir val="bar"/>
        <c:grouping val="clustered"/>
        <c:varyColors val="0"/>
        <c:ser>
          <c:idx val="0"/>
          <c:order val="0"/>
          <c:spPr>
            <a:solidFill>
              <a:srgbClr val="00B050"/>
            </a:soli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Sheet1!$C$4:$C$11</c:f>
              <c:strCache>
                <c:ptCount val="8"/>
                <c:pt idx="0">
                  <c:v>Cloud/ Servers</c:v>
                </c:pt>
                <c:pt idx="1">
                  <c:v>Remote key / Transmitters</c:v>
                </c:pt>
                <c:pt idx="2">
                  <c:v>Mobile App /smart applications</c:v>
                </c:pt>
                <c:pt idx="3">
                  <c:v>Infotainment</c:v>
                </c:pt>
                <c:pt idx="4">
                  <c:v>OBD / Diagnostics</c:v>
                </c:pt>
                <c:pt idx="5">
                  <c:v>Wi-Fi</c:v>
                </c:pt>
                <c:pt idx="6">
                  <c:v>Vehicle protocol - CAN/Eth</c:v>
                </c:pt>
                <c:pt idx="7">
                  <c:v>Bluetooth</c:v>
                </c:pt>
              </c:strCache>
            </c:strRef>
          </c:cat>
          <c:val>
            <c:numRef>
              <c:f>Sheet1!$D$4:$D$11</c:f>
              <c:numCache>
                <c:formatCode>0%</c:formatCode>
                <c:ptCount val="8"/>
                <c:pt idx="0">
                  <c:v>0.45</c:v>
                </c:pt>
                <c:pt idx="1">
                  <c:v>0.25</c:v>
                </c:pt>
                <c:pt idx="2">
                  <c:v>0.15</c:v>
                </c:pt>
                <c:pt idx="3">
                  <c:v>0.1</c:v>
                </c:pt>
                <c:pt idx="4">
                  <c:v>0.06</c:v>
                </c:pt>
                <c:pt idx="5" formatCode="0.00%">
                  <c:v>5.5E-2</c:v>
                </c:pt>
                <c:pt idx="6">
                  <c:v>0.03</c:v>
                </c:pt>
                <c:pt idx="7">
                  <c:v>0.02</c:v>
                </c:pt>
              </c:numCache>
            </c:numRef>
          </c:val>
          <c:extLst>
            <c:ext xmlns:c16="http://schemas.microsoft.com/office/drawing/2014/chart" uri="{C3380CC4-5D6E-409C-BE32-E72D297353CC}">
              <c16:uniqueId val="{00000000-7B00-46F0-8E39-B5C4B6D0D2AB}"/>
            </c:ext>
          </c:extLst>
        </c:ser>
        <c:dLbls>
          <c:showLegendKey val="0"/>
          <c:showVal val="1"/>
          <c:showCatName val="0"/>
          <c:showSerName val="0"/>
          <c:showPercent val="0"/>
          <c:showBubbleSize val="0"/>
        </c:dLbls>
        <c:gapWidth val="150"/>
        <c:shape val="box"/>
        <c:axId val="757897640"/>
        <c:axId val="757901576"/>
        <c:axId val="0"/>
      </c:bar3DChart>
      <c:catAx>
        <c:axId val="757897640"/>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57901576"/>
        <c:crossesAt val="0"/>
        <c:auto val="1"/>
        <c:lblAlgn val="ctr"/>
        <c:lblOffset val="100"/>
        <c:noMultiLvlLbl val="0"/>
      </c:catAx>
      <c:valAx>
        <c:axId val="757901576"/>
        <c:scaling>
          <c:orientation val="maxMin"/>
        </c:scaling>
        <c:delete val="0"/>
        <c:axPos val="b"/>
        <c:majorGridlines>
          <c:spPr>
            <a:ln w="9525" cap="flat" cmpd="sng" algn="ctr">
              <a:solidFill>
                <a:schemeClr val="dk1">
                  <a:lumMod val="50000"/>
                  <a:lumOff val="50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57897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2442C-D091-412B-9CF4-71BF170136AD}" type="datetimeFigureOut">
              <a:rPr lang="en-IN" smtClean="0"/>
              <a:t>09-07-2022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4CB88-43DF-4C22-9A41-A7A003D1413C}" type="slidenum">
              <a:rPr lang="en-IN" smtClean="0"/>
              <a:t>‹#›</a:t>
            </a:fld>
            <a:endParaRPr lang="en-IN"/>
          </a:p>
        </p:txBody>
      </p:sp>
    </p:spTree>
    <p:extLst>
      <p:ext uri="{BB962C8B-B14F-4D97-AF65-F5344CB8AC3E}">
        <p14:creationId xmlns:p14="http://schemas.microsoft.com/office/powerpoint/2010/main" val="3095622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effectLst/>
                <a:latin typeface="Calibri" panose="020F0502020204030204" pitchFamily="34" charset="0"/>
              </a:rPr>
              <a:t>Welcome to the first course from </a:t>
            </a:r>
            <a:r>
              <a:rPr lang="en-US" sz="1800" dirty="0" err="1">
                <a:solidFill>
                  <a:srgbClr val="000000"/>
                </a:solidFill>
                <a:effectLst/>
                <a:latin typeface="Calibri" panose="020F0502020204030204" pitchFamily="34" charset="0"/>
              </a:rPr>
              <a:t>Autoronics</a:t>
            </a:r>
            <a:r>
              <a:rPr lang="en-US" sz="1800" dirty="0">
                <a:solidFill>
                  <a:srgbClr val="000000"/>
                </a:solidFill>
                <a:effectLst/>
                <a:latin typeface="Calibri" panose="020F0502020204030204" pitchFamily="34" charset="0"/>
              </a:rPr>
              <a:t> where we will mainly discuss the basics of automotive electronics basically, we are from the automotive industry and as a part of our learning and to spread our knowledge  we wanted to conduct this basic  course via </a:t>
            </a:r>
            <a:r>
              <a:rPr lang="en-US" sz="1800" dirty="0" err="1">
                <a:solidFill>
                  <a:srgbClr val="000000"/>
                </a:solidFill>
                <a:effectLst/>
                <a:latin typeface="Calibri" panose="020F0502020204030204" pitchFamily="34" charset="0"/>
              </a:rPr>
              <a:t>Autoronics</a:t>
            </a:r>
            <a:r>
              <a:rPr lang="en-US" sz="1800" dirty="0">
                <a:solidFill>
                  <a:srgbClr val="000000"/>
                </a:solidFill>
                <a:effectLst/>
                <a:latin typeface="Calibri" panose="020F0502020204030204" pitchFamily="34" charset="0"/>
              </a:rPr>
              <a:t> services, during this course you are free to ask any questions or you can  reach us with the mail id given ay the end of the training session</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4564CB88-43DF-4C22-9A41-A7A003D1413C}" type="slidenum">
              <a:rPr lang="en-IN" smtClean="0"/>
              <a:t>1</a:t>
            </a:fld>
            <a:endParaRPr lang="en-IN"/>
          </a:p>
        </p:txBody>
      </p:sp>
    </p:spTree>
    <p:extLst>
      <p:ext uri="{BB962C8B-B14F-4D97-AF65-F5344CB8AC3E}">
        <p14:creationId xmlns:p14="http://schemas.microsoft.com/office/powerpoint/2010/main" val="3294605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4CB88-43DF-4C22-9A41-A7A003D1413C}" type="slidenum">
              <a:rPr lang="en-IN" smtClean="0"/>
              <a:t>2</a:t>
            </a:fld>
            <a:endParaRPr lang="en-IN"/>
          </a:p>
        </p:txBody>
      </p:sp>
    </p:spTree>
    <p:extLst>
      <p:ext uri="{BB962C8B-B14F-4D97-AF65-F5344CB8AC3E}">
        <p14:creationId xmlns:p14="http://schemas.microsoft.com/office/powerpoint/2010/main" val="3704249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4CB88-43DF-4C22-9A41-A7A003D1413C}" type="slidenum">
              <a:rPr lang="en-IN" smtClean="0"/>
              <a:t>14</a:t>
            </a:fld>
            <a:endParaRPr lang="en-IN"/>
          </a:p>
        </p:txBody>
      </p:sp>
    </p:spTree>
    <p:extLst>
      <p:ext uri="{BB962C8B-B14F-4D97-AF65-F5344CB8AC3E}">
        <p14:creationId xmlns:p14="http://schemas.microsoft.com/office/powerpoint/2010/main" val="1936677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36E406-58CB-4AA3-8282-7BB0E56BC61D}" type="datetimeFigureOut">
              <a:rPr lang="en-IN" smtClean="0"/>
              <a:t>09-07-2022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ADB3400C-B422-46DE-8A40-ADE7A9A9A0C5}"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989197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36E406-58CB-4AA3-8282-7BB0E56BC61D}" type="datetimeFigureOut">
              <a:rPr lang="en-IN" smtClean="0"/>
              <a:t>09-07-2022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B3400C-B422-46DE-8A40-ADE7A9A9A0C5}"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960602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36E406-58CB-4AA3-8282-7BB0E56BC61D}" type="datetimeFigureOut">
              <a:rPr lang="en-IN" smtClean="0"/>
              <a:t>09-07-2022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B3400C-B422-46DE-8A40-ADE7A9A9A0C5}" type="slidenum">
              <a:rPr lang="en-IN" smtClean="0"/>
              <a:t>‹#›</a:t>
            </a:fld>
            <a:endParaRPr lang="en-IN"/>
          </a:p>
        </p:txBody>
      </p:sp>
    </p:spTree>
    <p:extLst>
      <p:ext uri="{BB962C8B-B14F-4D97-AF65-F5344CB8AC3E}">
        <p14:creationId xmlns:p14="http://schemas.microsoft.com/office/powerpoint/2010/main" val="327808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36E406-58CB-4AA3-8282-7BB0E56BC61D}" type="datetimeFigureOut">
              <a:rPr lang="en-IN" smtClean="0"/>
              <a:t>09-07-2022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B3400C-B422-46DE-8A40-ADE7A9A9A0C5}"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029815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36E406-58CB-4AA3-8282-7BB0E56BC61D}" type="datetimeFigureOut">
              <a:rPr lang="en-IN" smtClean="0"/>
              <a:t>09-07-2022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B3400C-B422-46DE-8A40-ADE7A9A9A0C5}" type="slidenum">
              <a:rPr lang="en-IN" smtClean="0"/>
              <a:t>‹#›</a:t>
            </a:fld>
            <a:endParaRPr lang="en-IN"/>
          </a:p>
        </p:txBody>
      </p:sp>
    </p:spTree>
    <p:extLst>
      <p:ext uri="{BB962C8B-B14F-4D97-AF65-F5344CB8AC3E}">
        <p14:creationId xmlns:p14="http://schemas.microsoft.com/office/powerpoint/2010/main" val="102177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36E406-58CB-4AA3-8282-7BB0E56BC61D}" type="datetimeFigureOut">
              <a:rPr lang="en-IN" smtClean="0"/>
              <a:t>09-07-2022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B3400C-B422-46DE-8A40-ADE7A9A9A0C5}"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8459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B36E406-58CB-4AA3-8282-7BB0E56BC61D}" type="datetimeFigureOut">
              <a:rPr lang="en-IN" smtClean="0"/>
              <a:t>09-07-2022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B3400C-B422-46DE-8A40-ADE7A9A9A0C5}" type="slidenum">
              <a:rPr lang="en-IN" smtClean="0"/>
              <a:t>‹#›</a:t>
            </a:fld>
            <a:endParaRPr lang="en-IN"/>
          </a:p>
        </p:txBody>
      </p:sp>
    </p:spTree>
    <p:extLst>
      <p:ext uri="{BB962C8B-B14F-4D97-AF65-F5344CB8AC3E}">
        <p14:creationId xmlns:p14="http://schemas.microsoft.com/office/powerpoint/2010/main" val="282585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36E406-58CB-4AA3-8282-7BB0E56BC61D}" type="datetimeFigureOut">
              <a:rPr lang="en-IN" smtClean="0"/>
              <a:t>09-07-2022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B3400C-B422-46DE-8A40-ADE7A9A9A0C5}" type="slidenum">
              <a:rPr lang="en-IN" smtClean="0"/>
              <a:t>‹#›</a:t>
            </a:fld>
            <a:endParaRPr lang="en-IN"/>
          </a:p>
        </p:txBody>
      </p:sp>
    </p:spTree>
    <p:extLst>
      <p:ext uri="{BB962C8B-B14F-4D97-AF65-F5344CB8AC3E}">
        <p14:creationId xmlns:p14="http://schemas.microsoft.com/office/powerpoint/2010/main" val="4220721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36E406-58CB-4AA3-8282-7BB0E56BC61D}" type="datetimeFigureOut">
              <a:rPr lang="en-IN" smtClean="0"/>
              <a:t>09-07-2022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B3400C-B422-46DE-8A40-ADE7A9A9A0C5}" type="slidenum">
              <a:rPr lang="en-IN" smtClean="0"/>
              <a:t>‹#›</a:t>
            </a:fld>
            <a:endParaRPr lang="en-IN"/>
          </a:p>
        </p:txBody>
      </p:sp>
    </p:spTree>
    <p:extLst>
      <p:ext uri="{BB962C8B-B14F-4D97-AF65-F5344CB8AC3E}">
        <p14:creationId xmlns:p14="http://schemas.microsoft.com/office/powerpoint/2010/main" val="2799239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36E406-58CB-4AA3-8282-7BB0E56BC61D}" type="datetimeFigureOut">
              <a:rPr lang="en-IN" smtClean="0"/>
              <a:t>09-07-2022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B3400C-B422-46DE-8A40-ADE7A9A9A0C5}" type="slidenum">
              <a:rPr lang="en-IN" smtClean="0"/>
              <a:t>‹#›</a:t>
            </a:fld>
            <a:endParaRPr lang="en-IN"/>
          </a:p>
        </p:txBody>
      </p:sp>
    </p:spTree>
    <p:extLst>
      <p:ext uri="{BB962C8B-B14F-4D97-AF65-F5344CB8AC3E}">
        <p14:creationId xmlns:p14="http://schemas.microsoft.com/office/powerpoint/2010/main" val="1038639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36E406-58CB-4AA3-8282-7BB0E56BC61D}" type="datetimeFigureOut">
              <a:rPr lang="en-IN" smtClean="0"/>
              <a:t>09-07-2022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B3400C-B422-46DE-8A40-ADE7A9A9A0C5}" type="slidenum">
              <a:rPr lang="en-IN" smtClean="0"/>
              <a:t>‹#›</a:t>
            </a:fld>
            <a:endParaRPr lang="en-IN"/>
          </a:p>
        </p:txBody>
      </p:sp>
    </p:spTree>
    <p:extLst>
      <p:ext uri="{BB962C8B-B14F-4D97-AF65-F5344CB8AC3E}">
        <p14:creationId xmlns:p14="http://schemas.microsoft.com/office/powerpoint/2010/main" val="808327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4B36E406-58CB-4AA3-8282-7BB0E56BC61D}" type="datetimeFigureOut">
              <a:rPr lang="en-IN" smtClean="0"/>
              <a:t>09-07-2022</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ADB3400C-B422-46DE-8A40-ADE7A9A9A0C5}"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593161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4.png"/><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mailto:autoronicsservices@gmail.com" TargetMode="Externa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hyperlink" Target="https://www.linkedin.com/in/autoronics-servi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4E314C-839D-4CE5-86C2-136DB2E5F6F4}"/>
              </a:ext>
            </a:extLst>
          </p:cNvPr>
          <p:cNvPicPr>
            <a:picLocks noChangeAspect="1"/>
          </p:cNvPicPr>
          <p:nvPr/>
        </p:nvPicPr>
        <p:blipFill>
          <a:blip r:embed="rId3"/>
          <a:stretch>
            <a:fillRect/>
          </a:stretch>
        </p:blipFill>
        <p:spPr>
          <a:xfrm>
            <a:off x="792106" y="1813362"/>
            <a:ext cx="10398807" cy="2424033"/>
          </a:xfrm>
          <a:prstGeom prst="rect">
            <a:avLst/>
          </a:prstGeom>
          <a:effectLst>
            <a:softEdge rad="127000"/>
          </a:effectLst>
        </p:spPr>
      </p:pic>
      <p:sp>
        <p:nvSpPr>
          <p:cNvPr id="4" name="TextBox 3">
            <a:extLst>
              <a:ext uri="{FF2B5EF4-FFF2-40B4-BE49-F238E27FC236}">
                <a16:creationId xmlns:a16="http://schemas.microsoft.com/office/drawing/2014/main" id="{54EFB3B9-2717-8E27-9248-A1C8B7E73280}"/>
              </a:ext>
            </a:extLst>
          </p:cNvPr>
          <p:cNvSpPr txBox="1"/>
          <p:nvPr/>
        </p:nvSpPr>
        <p:spPr>
          <a:xfrm>
            <a:off x="991998" y="4320222"/>
            <a:ext cx="6094602" cy="369332"/>
          </a:xfrm>
          <a:prstGeom prst="rect">
            <a:avLst/>
          </a:prstGeom>
          <a:noFill/>
        </p:spPr>
        <p:txBody>
          <a:bodyPr wrap="square">
            <a:spAutoFit/>
          </a:bodyPr>
          <a:lstStyle/>
          <a:p>
            <a:r>
              <a:rPr lang="en-IN" dirty="0"/>
              <a:t>Overview of  Automotive cyber security</a:t>
            </a:r>
          </a:p>
        </p:txBody>
      </p:sp>
    </p:spTree>
    <p:extLst>
      <p:ext uri="{BB962C8B-B14F-4D97-AF65-F5344CB8AC3E}">
        <p14:creationId xmlns:p14="http://schemas.microsoft.com/office/powerpoint/2010/main" val="67938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223FAB-4F05-48A0-B3E3-7462BA84CC2E}"/>
              </a:ext>
            </a:extLst>
          </p:cNvPr>
          <p:cNvPicPr>
            <a:picLocks noChangeAspect="1"/>
          </p:cNvPicPr>
          <p:nvPr/>
        </p:nvPicPr>
        <p:blipFill>
          <a:blip r:embed="rId3"/>
          <a:stretch>
            <a:fillRect/>
          </a:stretch>
        </p:blipFill>
        <p:spPr>
          <a:xfrm>
            <a:off x="10124387" y="6376026"/>
            <a:ext cx="2067613" cy="481974"/>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1CE5E67F-EB08-4881-8B41-0618959B7619}"/>
              </a:ext>
            </a:extLst>
          </p:cNvPr>
          <p:cNvSpPr txBox="1"/>
          <p:nvPr/>
        </p:nvSpPr>
        <p:spPr>
          <a:xfrm>
            <a:off x="1085849" y="112291"/>
            <a:ext cx="8639175" cy="523220"/>
          </a:xfrm>
          <a:prstGeom prst="rect">
            <a:avLst/>
          </a:prstGeom>
          <a:noFill/>
        </p:spPr>
        <p:txBody>
          <a:bodyPr wrap="square" rtlCol="0">
            <a:spAutoFit/>
          </a:bodyPr>
          <a:lstStyle>
            <a:defPPr>
              <a:defRPr lang="en-US"/>
            </a:defPPr>
            <a:lvl1pPr>
              <a:defRPr sz="2800" b="1">
                <a:effectLst/>
                <a:latin typeface="Calibri" panose="020F0502020204030204" pitchFamily="34" charset="0"/>
                <a:ea typeface="Calibri" panose="020F0502020204030204" pitchFamily="34" charset="0"/>
                <a:cs typeface="Times New Roman" panose="02020603050405020304" pitchFamily="18" charset="0"/>
              </a:defRPr>
            </a:lvl1pPr>
          </a:lstStyle>
          <a:p>
            <a:r>
              <a:rPr lang="en-IN" dirty="0"/>
              <a:t>Overview to Automotive security</a:t>
            </a:r>
          </a:p>
        </p:txBody>
      </p:sp>
      <p:sp>
        <p:nvSpPr>
          <p:cNvPr id="16" name="TextBox 15">
            <a:extLst>
              <a:ext uri="{FF2B5EF4-FFF2-40B4-BE49-F238E27FC236}">
                <a16:creationId xmlns:a16="http://schemas.microsoft.com/office/drawing/2014/main" id="{8992B821-AC1C-4B94-9214-759B4209C170}"/>
              </a:ext>
            </a:extLst>
          </p:cNvPr>
          <p:cNvSpPr txBox="1"/>
          <p:nvPr/>
        </p:nvSpPr>
        <p:spPr>
          <a:xfrm>
            <a:off x="1068424" y="551621"/>
            <a:ext cx="10525161" cy="4339650"/>
          </a:xfrm>
          <a:prstGeom prst="rect">
            <a:avLst/>
          </a:prstGeom>
          <a:noFill/>
        </p:spPr>
        <p:txBody>
          <a:bodyPr wrap="square">
            <a:spAutoFit/>
          </a:bodyPr>
          <a:lstStyle/>
          <a:p>
            <a:br>
              <a:rPr lang="en-IN" sz="1200" dirty="0"/>
            </a:br>
            <a:r>
              <a:rPr lang="en-IN" sz="1200" dirty="0"/>
              <a:t>1.Domain specific automotive cyber attacks</a:t>
            </a:r>
          </a:p>
          <a:p>
            <a:r>
              <a:rPr lang="en-IN" sz="1200" dirty="0"/>
              <a:t>2.Need of Automotive security    </a:t>
            </a:r>
            <a:br>
              <a:rPr lang="en-IN" sz="1200" dirty="0"/>
            </a:br>
            <a:r>
              <a:rPr lang="en-IN" sz="1200" dirty="0"/>
              <a:t>3.Automotive cyber security standards</a:t>
            </a:r>
            <a:br>
              <a:rPr lang="en-IN" sz="1200" dirty="0"/>
            </a:br>
            <a:r>
              <a:rPr lang="en-IN" sz="1200" dirty="0"/>
              <a:t>		- ISO 24343</a:t>
            </a:r>
            <a:br>
              <a:rPr lang="en-IN" sz="1200" dirty="0"/>
            </a:br>
            <a:r>
              <a:rPr lang="en-IN" sz="1200" dirty="0"/>
              <a:t>		-  UN R 155</a:t>
            </a:r>
            <a:br>
              <a:rPr lang="en-IN" sz="1200" dirty="0"/>
            </a:br>
            <a:r>
              <a:rPr lang="en-IN" sz="1200" dirty="0"/>
              <a:t>		-  UN R156</a:t>
            </a:r>
            <a:br>
              <a:rPr lang="en-IN" sz="1200" dirty="0"/>
            </a:br>
            <a:r>
              <a:rPr lang="en-IN" sz="1200" dirty="0"/>
              <a:t>4.Basic properties of security</a:t>
            </a:r>
            <a:br>
              <a:rPr lang="en-IN" sz="1200" dirty="0"/>
            </a:br>
            <a:r>
              <a:rPr lang="en-IN" sz="1200" dirty="0"/>
              <a:t> 		- CIA </a:t>
            </a:r>
          </a:p>
          <a:p>
            <a:r>
              <a:rPr lang="en-IN" sz="1200" dirty="0"/>
              <a:t>5.Symmetric and Asymmetric algorithms</a:t>
            </a:r>
            <a:br>
              <a:rPr lang="en-IN" sz="1200" dirty="0"/>
            </a:br>
            <a:r>
              <a:rPr lang="en-IN" sz="1200" dirty="0"/>
              <a:t>		- AES , ECB CBC mode</a:t>
            </a:r>
            <a:br>
              <a:rPr lang="en-IN" sz="1200" dirty="0"/>
            </a:br>
            <a:r>
              <a:rPr lang="en-IN" sz="1200" dirty="0"/>
              <a:t>		- RSA</a:t>
            </a:r>
          </a:p>
          <a:p>
            <a:r>
              <a:rPr lang="en-IN" sz="1200" dirty="0"/>
              <a:t>6.Detailed discussion about cryptography</a:t>
            </a:r>
            <a:br>
              <a:rPr lang="en-IN" sz="1200" dirty="0"/>
            </a:br>
            <a:r>
              <a:rPr lang="en-IN" sz="1200" dirty="0"/>
              <a:t>7.Difference between SHE and HSM ()</a:t>
            </a:r>
            <a:br>
              <a:rPr lang="en-IN" sz="1200" dirty="0"/>
            </a:br>
            <a:r>
              <a:rPr lang="en-IN" sz="1200" dirty="0"/>
              <a:t>8. Key management  </a:t>
            </a:r>
            <a:br>
              <a:rPr lang="en-IN" sz="1200" dirty="0"/>
            </a:br>
            <a:r>
              <a:rPr lang="en-IN" sz="1200" dirty="0"/>
              <a:t>9. Key exchange algorithm</a:t>
            </a:r>
            <a:br>
              <a:rPr lang="en-IN" sz="1200" dirty="0"/>
            </a:br>
            <a:r>
              <a:rPr lang="en-IN" sz="1200" dirty="0"/>
              <a:t>		- DH   </a:t>
            </a:r>
            <a:br>
              <a:rPr lang="en-IN" sz="1200" dirty="0"/>
            </a:br>
            <a:r>
              <a:rPr lang="en-IN" sz="1200" dirty="0"/>
              <a:t>10.Overview of AUTOSAR crypto stack</a:t>
            </a:r>
            <a:br>
              <a:rPr lang="en-IN" sz="1200" dirty="0"/>
            </a:br>
            <a:r>
              <a:rPr lang="en-IN" sz="1200" dirty="0"/>
              <a:t>		- SecOC</a:t>
            </a:r>
            <a:br>
              <a:rPr lang="en-IN" sz="1200" dirty="0"/>
            </a:br>
            <a:r>
              <a:rPr lang="en-IN" sz="1200" dirty="0"/>
              <a:t>		- CSM</a:t>
            </a:r>
          </a:p>
          <a:p>
            <a:r>
              <a:rPr lang="en-IN" sz="1200" dirty="0"/>
              <a:t>		- CRY</a:t>
            </a:r>
          </a:p>
          <a:p>
            <a:pPr lvl="1"/>
            <a:r>
              <a:rPr lang="en-IN" sz="1200" dirty="0"/>
              <a:t>	- CRIF</a:t>
            </a:r>
          </a:p>
          <a:p>
            <a:pPr lvl="1"/>
            <a:endParaRPr lang="en-IN" sz="1200" dirty="0"/>
          </a:p>
        </p:txBody>
      </p:sp>
      <p:pic>
        <p:nvPicPr>
          <p:cNvPr id="9" name="Picture 8" descr="Text, logo&#10;&#10;Description automatically generated">
            <a:extLst>
              <a:ext uri="{FF2B5EF4-FFF2-40B4-BE49-F238E27FC236}">
                <a16:creationId xmlns:a16="http://schemas.microsoft.com/office/drawing/2014/main" id="{7323156B-5076-432B-B658-533BE83F2C0D}"/>
              </a:ext>
            </a:extLst>
          </p:cNvPr>
          <p:cNvPicPr>
            <a:picLocks noChangeAspect="1"/>
          </p:cNvPicPr>
          <p:nvPr/>
        </p:nvPicPr>
        <p:blipFill>
          <a:blip r:embed="rId3">
            <a:alphaModFix amt="20000"/>
          </a:blip>
          <a:stretch>
            <a:fillRect/>
          </a:stretch>
        </p:blipFill>
        <p:spPr>
          <a:xfrm rot="20023087">
            <a:off x="1073660" y="2056191"/>
            <a:ext cx="10370342" cy="2125369"/>
          </a:xfrm>
          <a:prstGeom prst="rect">
            <a:avLst/>
          </a:prstGeom>
          <a:ln>
            <a:noFill/>
          </a:ln>
          <a:effectLst>
            <a:softEdge rad="112500"/>
          </a:effectLst>
        </p:spPr>
      </p:pic>
      <p:sp>
        <p:nvSpPr>
          <p:cNvPr id="3" name="TextBox 2">
            <a:extLst>
              <a:ext uri="{FF2B5EF4-FFF2-40B4-BE49-F238E27FC236}">
                <a16:creationId xmlns:a16="http://schemas.microsoft.com/office/drawing/2014/main" id="{0DC7D2B1-24D6-0D5D-6E1B-5DC70DE4EFEC}"/>
              </a:ext>
            </a:extLst>
          </p:cNvPr>
          <p:cNvSpPr txBox="1"/>
          <p:nvPr/>
        </p:nvSpPr>
        <p:spPr>
          <a:xfrm>
            <a:off x="662730" y="4709229"/>
            <a:ext cx="3900881" cy="1938992"/>
          </a:xfrm>
          <a:prstGeom prst="rect">
            <a:avLst/>
          </a:prstGeom>
          <a:noFill/>
        </p:spPr>
        <p:txBody>
          <a:bodyPr wrap="square">
            <a:spAutoFit/>
          </a:bodyPr>
          <a:lstStyle>
            <a:defPPr>
              <a:defRPr lang="en-US"/>
            </a:defPPr>
            <a:lvl1pPr>
              <a:defRPr sz="1200"/>
            </a:lvl1pPr>
            <a:lvl2pPr lvl="1">
              <a:defRPr sz="1200"/>
            </a:lvl2pPr>
          </a:lstStyle>
          <a:p>
            <a:pPr lvl="1"/>
            <a:r>
              <a:rPr lang="en-IN" dirty="0"/>
              <a:t>11. Secure boot</a:t>
            </a:r>
            <a:br>
              <a:rPr lang="en-IN" dirty="0"/>
            </a:br>
            <a:r>
              <a:rPr lang="en-IN" dirty="0"/>
              <a:t>12. Types of Attacks</a:t>
            </a:r>
            <a:br>
              <a:rPr lang="en-IN" dirty="0"/>
            </a:br>
            <a:r>
              <a:rPr lang="en-IN" dirty="0"/>
              <a:t>        		Sniffing/Eavesdrop</a:t>
            </a:r>
          </a:p>
          <a:p>
            <a:pPr lvl="1"/>
            <a:r>
              <a:rPr lang="en-IN" dirty="0"/>
              <a:t>		Injection</a:t>
            </a:r>
          </a:p>
          <a:p>
            <a:pPr lvl="1"/>
            <a:r>
              <a:rPr lang="en-IN" dirty="0"/>
              <a:t>		Denial Of Service</a:t>
            </a:r>
          </a:p>
          <a:p>
            <a:pPr lvl="1"/>
            <a:r>
              <a:rPr lang="en-IN" dirty="0"/>
              <a:t>		Fuzzing</a:t>
            </a:r>
          </a:p>
          <a:p>
            <a:pPr lvl="1"/>
            <a:r>
              <a:rPr lang="en-IN" dirty="0"/>
              <a:t>		Replay</a:t>
            </a:r>
          </a:p>
          <a:p>
            <a:pPr lvl="1"/>
            <a:r>
              <a:rPr lang="en-IN" dirty="0"/>
              <a:t>		Impersonation</a:t>
            </a:r>
          </a:p>
          <a:p>
            <a:pPr lvl="1"/>
            <a:r>
              <a:rPr lang="en-IN" dirty="0"/>
              <a:t>13. Example in real scenario (use case) </a:t>
            </a:r>
          </a:p>
          <a:p>
            <a:endParaRPr lang="en-IN" dirty="0"/>
          </a:p>
        </p:txBody>
      </p:sp>
    </p:spTree>
    <p:extLst>
      <p:ext uri="{BB962C8B-B14F-4D97-AF65-F5344CB8AC3E}">
        <p14:creationId xmlns:p14="http://schemas.microsoft.com/office/powerpoint/2010/main" val="1166052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551D61-140F-9F92-D4A5-BFB1BCFBA719}"/>
              </a:ext>
            </a:extLst>
          </p:cNvPr>
          <p:cNvSpPr txBox="1"/>
          <p:nvPr/>
        </p:nvSpPr>
        <p:spPr>
          <a:xfrm>
            <a:off x="1075888" y="486453"/>
            <a:ext cx="6094602" cy="369332"/>
          </a:xfrm>
          <a:prstGeom prst="rect">
            <a:avLst/>
          </a:prstGeom>
          <a:noFill/>
        </p:spPr>
        <p:txBody>
          <a:bodyPr wrap="square">
            <a:spAutoFit/>
          </a:bodyPr>
          <a:lstStyle/>
          <a:p>
            <a:r>
              <a:rPr lang="en-IN" sz="1800" dirty="0"/>
              <a:t>Automotive </a:t>
            </a:r>
            <a:r>
              <a:rPr lang="en-IN" dirty="0"/>
              <a:t>C</a:t>
            </a:r>
            <a:r>
              <a:rPr lang="en-IN" sz="1800" dirty="0"/>
              <a:t>yber </a:t>
            </a:r>
            <a:r>
              <a:rPr lang="en-IN" dirty="0"/>
              <a:t>A</a:t>
            </a:r>
            <a:r>
              <a:rPr lang="en-IN" sz="1800" dirty="0"/>
              <a:t>ttacks :</a:t>
            </a:r>
          </a:p>
        </p:txBody>
      </p:sp>
      <p:graphicFrame>
        <p:nvGraphicFramePr>
          <p:cNvPr id="7" name="Chart 6">
            <a:extLst>
              <a:ext uri="{FF2B5EF4-FFF2-40B4-BE49-F238E27FC236}">
                <a16:creationId xmlns:a16="http://schemas.microsoft.com/office/drawing/2014/main" id="{0A825D61-099A-BDEE-2ACB-DF3C7EDFF1A1}"/>
              </a:ext>
            </a:extLst>
          </p:cNvPr>
          <p:cNvGraphicFramePr>
            <a:graphicFrameLocks/>
          </p:cNvGraphicFramePr>
          <p:nvPr>
            <p:extLst>
              <p:ext uri="{D42A27DB-BD31-4B8C-83A1-F6EECF244321}">
                <p14:modId xmlns:p14="http://schemas.microsoft.com/office/powerpoint/2010/main" val="3125041419"/>
              </p:ext>
            </p:extLst>
          </p:nvPr>
        </p:nvGraphicFramePr>
        <p:xfrm>
          <a:off x="1048624" y="905969"/>
          <a:ext cx="10268125" cy="5952031"/>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a:extLst>
              <a:ext uri="{FF2B5EF4-FFF2-40B4-BE49-F238E27FC236}">
                <a16:creationId xmlns:a16="http://schemas.microsoft.com/office/drawing/2014/main" id="{72C50292-CDA4-0D49-2D6F-BE2F0BC49414}"/>
              </a:ext>
            </a:extLst>
          </p:cNvPr>
          <p:cNvPicPr>
            <a:picLocks noChangeAspect="1"/>
          </p:cNvPicPr>
          <p:nvPr/>
        </p:nvPicPr>
        <p:blipFill>
          <a:blip r:embed="rId3"/>
          <a:stretch>
            <a:fillRect/>
          </a:stretch>
        </p:blipFill>
        <p:spPr>
          <a:xfrm>
            <a:off x="1055078" y="1652954"/>
            <a:ext cx="5301760" cy="3552092"/>
          </a:xfrm>
          <a:prstGeom prst="rect">
            <a:avLst/>
          </a:prstGeom>
        </p:spPr>
      </p:pic>
      <p:pic>
        <p:nvPicPr>
          <p:cNvPr id="9" name="Picture 8">
            <a:extLst>
              <a:ext uri="{FF2B5EF4-FFF2-40B4-BE49-F238E27FC236}">
                <a16:creationId xmlns:a16="http://schemas.microsoft.com/office/drawing/2014/main" id="{DE969A59-1BD3-2627-95E6-A75CBD32D18B}"/>
              </a:ext>
            </a:extLst>
          </p:cNvPr>
          <p:cNvPicPr>
            <a:picLocks noChangeAspect="1"/>
          </p:cNvPicPr>
          <p:nvPr/>
        </p:nvPicPr>
        <p:blipFill>
          <a:blip r:embed="rId4"/>
          <a:stretch>
            <a:fillRect/>
          </a:stretch>
        </p:blipFill>
        <p:spPr>
          <a:xfrm>
            <a:off x="4968750" y="1568741"/>
            <a:ext cx="710597" cy="67112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1" name="Picture 10">
            <a:extLst>
              <a:ext uri="{FF2B5EF4-FFF2-40B4-BE49-F238E27FC236}">
                <a16:creationId xmlns:a16="http://schemas.microsoft.com/office/drawing/2014/main" id="{A5290010-0224-D135-BA6C-8111E11E2B9C}"/>
              </a:ext>
            </a:extLst>
          </p:cNvPr>
          <p:cNvPicPr>
            <a:picLocks noChangeAspect="1"/>
          </p:cNvPicPr>
          <p:nvPr/>
        </p:nvPicPr>
        <p:blipFill>
          <a:blip r:embed="rId5"/>
          <a:stretch>
            <a:fillRect/>
          </a:stretch>
        </p:blipFill>
        <p:spPr>
          <a:xfrm>
            <a:off x="1085216" y="3624043"/>
            <a:ext cx="748214" cy="563723"/>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5" name="Picture 14">
            <a:extLst>
              <a:ext uri="{FF2B5EF4-FFF2-40B4-BE49-F238E27FC236}">
                <a16:creationId xmlns:a16="http://schemas.microsoft.com/office/drawing/2014/main" id="{CEEAC080-378F-C468-7407-5869DC24B4A4}"/>
              </a:ext>
            </a:extLst>
          </p:cNvPr>
          <p:cNvPicPr>
            <a:picLocks noChangeAspect="1"/>
          </p:cNvPicPr>
          <p:nvPr/>
        </p:nvPicPr>
        <p:blipFill>
          <a:blip r:embed="rId6"/>
          <a:stretch>
            <a:fillRect/>
          </a:stretch>
        </p:blipFill>
        <p:spPr>
          <a:xfrm>
            <a:off x="5142125" y="2944532"/>
            <a:ext cx="975042" cy="545285"/>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9" name="Picture 18">
            <a:extLst>
              <a:ext uri="{FF2B5EF4-FFF2-40B4-BE49-F238E27FC236}">
                <a16:creationId xmlns:a16="http://schemas.microsoft.com/office/drawing/2014/main" id="{8FB7C3E0-505B-BF0B-2DC9-2B359032E29C}"/>
              </a:ext>
            </a:extLst>
          </p:cNvPr>
          <p:cNvPicPr>
            <a:picLocks noChangeAspect="1"/>
          </p:cNvPicPr>
          <p:nvPr/>
        </p:nvPicPr>
        <p:blipFill>
          <a:blip r:embed="rId7"/>
          <a:stretch>
            <a:fillRect/>
          </a:stretch>
        </p:blipFill>
        <p:spPr>
          <a:xfrm>
            <a:off x="1445544" y="1577130"/>
            <a:ext cx="886595" cy="63504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21" name="Picture 20">
            <a:extLst>
              <a:ext uri="{FF2B5EF4-FFF2-40B4-BE49-F238E27FC236}">
                <a16:creationId xmlns:a16="http://schemas.microsoft.com/office/drawing/2014/main" id="{5CEE3132-1FF2-7EB5-3C23-EC91B709D98E}"/>
              </a:ext>
            </a:extLst>
          </p:cNvPr>
          <p:cNvPicPr>
            <a:picLocks noChangeAspect="1"/>
          </p:cNvPicPr>
          <p:nvPr/>
        </p:nvPicPr>
        <p:blipFill>
          <a:blip r:embed="rId8"/>
          <a:stretch>
            <a:fillRect/>
          </a:stretch>
        </p:blipFill>
        <p:spPr>
          <a:xfrm>
            <a:off x="3137482" y="3632433"/>
            <a:ext cx="1510019" cy="71360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24" name="Rectangle 23">
            <a:extLst>
              <a:ext uri="{FF2B5EF4-FFF2-40B4-BE49-F238E27FC236}">
                <a16:creationId xmlns:a16="http://schemas.microsoft.com/office/drawing/2014/main" id="{0ADAD56D-BC30-1C89-AD16-7F9E0AB03451}"/>
              </a:ext>
            </a:extLst>
          </p:cNvPr>
          <p:cNvSpPr/>
          <p:nvPr/>
        </p:nvSpPr>
        <p:spPr>
          <a:xfrm>
            <a:off x="1082180" y="5813570"/>
            <a:ext cx="10184235" cy="104442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742F1892-7D3E-DB4E-E4EF-EAE373C7236A}"/>
              </a:ext>
            </a:extLst>
          </p:cNvPr>
          <p:cNvSpPr/>
          <p:nvPr/>
        </p:nvSpPr>
        <p:spPr>
          <a:xfrm>
            <a:off x="1075190" y="5200650"/>
            <a:ext cx="10199614" cy="61292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86631C9C-D380-E777-B6D5-624A736F3F28}"/>
              </a:ext>
            </a:extLst>
          </p:cNvPr>
          <p:cNvSpPr/>
          <p:nvPr/>
        </p:nvSpPr>
        <p:spPr>
          <a:xfrm>
            <a:off x="6272213" y="4681863"/>
            <a:ext cx="5011384" cy="57884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2A11690C-6BD0-4898-7189-B0F396FCA5A5}"/>
              </a:ext>
            </a:extLst>
          </p:cNvPr>
          <p:cNvSpPr/>
          <p:nvPr/>
        </p:nvSpPr>
        <p:spPr>
          <a:xfrm>
            <a:off x="6286500" y="4118994"/>
            <a:ext cx="4987900" cy="57884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C0D2D2D1-7D52-6285-A2DC-E8E143C84A38}"/>
              </a:ext>
            </a:extLst>
          </p:cNvPr>
          <p:cNvSpPr/>
          <p:nvPr/>
        </p:nvSpPr>
        <p:spPr>
          <a:xfrm>
            <a:off x="6291263" y="3540154"/>
            <a:ext cx="5000723" cy="57884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F35D988C-133E-083E-8DD0-3E43B96C29BB}"/>
              </a:ext>
            </a:extLst>
          </p:cNvPr>
          <p:cNvSpPr/>
          <p:nvPr/>
        </p:nvSpPr>
        <p:spPr>
          <a:xfrm>
            <a:off x="6295293" y="2961314"/>
            <a:ext cx="5005082" cy="57884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31DC2C5B-2D84-2442-AD5B-83CF530357E8}"/>
              </a:ext>
            </a:extLst>
          </p:cNvPr>
          <p:cNvSpPr/>
          <p:nvPr/>
        </p:nvSpPr>
        <p:spPr>
          <a:xfrm>
            <a:off x="6296025" y="2416030"/>
            <a:ext cx="4993298" cy="57884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2B0D8806-2D4B-FF40-327A-AC9A0A8DCCC4}"/>
              </a:ext>
            </a:extLst>
          </p:cNvPr>
          <p:cNvSpPr/>
          <p:nvPr/>
        </p:nvSpPr>
        <p:spPr>
          <a:xfrm>
            <a:off x="6310313" y="1652588"/>
            <a:ext cx="4972880" cy="771833"/>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A0DC486A-1A16-544F-378A-B0BAE81C4580}"/>
              </a:ext>
            </a:extLst>
          </p:cNvPr>
          <p:cNvPicPr>
            <a:picLocks noChangeAspect="1"/>
          </p:cNvPicPr>
          <p:nvPr/>
        </p:nvPicPr>
        <p:blipFill>
          <a:blip r:embed="rId9"/>
          <a:stretch>
            <a:fillRect/>
          </a:stretch>
        </p:blipFill>
        <p:spPr>
          <a:xfrm>
            <a:off x="5629013" y="4560299"/>
            <a:ext cx="965781" cy="55637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23" name="Picture 22">
            <a:extLst>
              <a:ext uri="{FF2B5EF4-FFF2-40B4-BE49-F238E27FC236}">
                <a16:creationId xmlns:a16="http://schemas.microsoft.com/office/drawing/2014/main" id="{0EE86333-5CA0-A90D-92F1-E5DF01873CD9}"/>
              </a:ext>
            </a:extLst>
          </p:cNvPr>
          <p:cNvPicPr>
            <a:picLocks noChangeAspect="1"/>
          </p:cNvPicPr>
          <p:nvPr/>
        </p:nvPicPr>
        <p:blipFill>
          <a:blip r:embed="rId10"/>
          <a:stretch>
            <a:fillRect/>
          </a:stretch>
        </p:blipFill>
        <p:spPr>
          <a:xfrm>
            <a:off x="6184286" y="2097247"/>
            <a:ext cx="703075" cy="67428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3" name="Picture 12">
            <a:extLst>
              <a:ext uri="{FF2B5EF4-FFF2-40B4-BE49-F238E27FC236}">
                <a16:creationId xmlns:a16="http://schemas.microsoft.com/office/drawing/2014/main" id="{0B87C331-15F7-E5A3-8643-1A7F60470D8F}"/>
              </a:ext>
            </a:extLst>
          </p:cNvPr>
          <p:cNvPicPr>
            <a:picLocks noChangeAspect="1"/>
          </p:cNvPicPr>
          <p:nvPr/>
        </p:nvPicPr>
        <p:blipFill>
          <a:blip r:embed="rId11"/>
          <a:stretch>
            <a:fillRect/>
          </a:stretch>
        </p:blipFill>
        <p:spPr>
          <a:xfrm>
            <a:off x="3483411" y="1430413"/>
            <a:ext cx="836917" cy="967913"/>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4" name="Picture 3" descr="Text, logo&#10;&#10;Description automatically generated">
            <a:extLst>
              <a:ext uri="{FF2B5EF4-FFF2-40B4-BE49-F238E27FC236}">
                <a16:creationId xmlns:a16="http://schemas.microsoft.com/office/drawing/2014/main" id="{B5E20B29-6F4F-C870-A722-27291864D3CB}"/>
              </a:ext>
            </a:extLst>
          </p:cNvPr>
          <p:cNvPicPr>
            <a:picLocks noChangeAspect="1"/>
          </p:cNvPicPr>
          <p:nvPr/>
        </p:nvPicPr>
        <p:blipFill>
          <a:blip r:embed="rId1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1739618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par>
                                <p:cTn id="8" presetID="22" presetClass="exit" presetSubtype="4" fill="hold" grpId="0" nodeType="withEffect">
                                  <p:stCondLst>
                                    <p:cond delay="0"/>
                                  </p:stCondLst>
                                  <p:childTnLst>
                                    <p:animEffect transition="out" filter="wipe(down)">
                                      <p:cBhvr>
                                        <p:cTn id="9" dur="500"/>
                                        <p:tgtEl>
                                          <p:spTgt spid="24"/>
                                        </p:tgtEl>
                                      </p:cBhvr>
                                    </p:animEffect>
                                    <p:set>
                                      <p:cBhvr>
                                        <p:cTn id="10" dur="1" fill="hold">
                                          <p:stCondLst>
                                            <p:cond delay="499"/>
                                          </p:stCondLst>
                                        </p:cTn>
                                        <p:tgtEl>
                                          <p:spTgt spid="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25"/>
                                        </p:tgtEl>
                                      </p:cBhvr>
                                    </p:animEffect>
                                    <p:set>
                                      <p:cBhvr>
                                        <p:cTn id="15" dur="1" fill="hold">
                                          <p:stCondLst>
                                            <p:cond delay="499"/>
                                          </p:stCondLst>
                                        </p:cTn>
                                        <p:tgtEl>
                                          <p:spTgt spid="25"/>
                                        </p:tgtEl>
                                        <p:attrNameLst>
                                          <p:attrName>style.visibility</p:attrName>
                                        </p:attrNameLst>
                                      </p:cBhvr>
                                      <p:to>
                                        <p:strVal val="hidden"/>
                                      </p:to>
                                    </p:set>
                                  </p:childTnLst>
                                </p:cTn>
                              </p:par>
                              <p:par>
                                <p:cTn id="16" presetID="2" presetClass="entr" presetSubtype="4"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xit" presetSubtype="4" fill="hold" grpId="0" nodeType="clickEffect">
                                  <p:stCondLst>
                                    <p:cond delay="0"/>
                                  </p:stCondLst>
                                  <p:childTnLst>
                                    <p:animEffect transition="out" filter="wipe(down)">
                                      <p:cBhvr>
                                        <p:cTn id="23" dur="500"/>
                                        <p:tgtEl>
                                          <p:spTgt spid="26"/>
                                        </p:tgtEl>
                                      </p:cBhvr>
                                    </p:animEffect>
                                    <p:set>
                                      <p:cBhvr>
                                        <p:cTn id="24" dur="1" fill="hold">
                                          <p:stCondLst>
                                            <p:cond delay="499"/>
                                          </p:stCondLst>
                                        </p:cTn>
                                        <p:tgtEl>
                                          <p:spTgt spid="26"/>
                                        </p:tgtEl>
                                        <p:attrNameLst>
                                          <p:attrName>style.visibility</p:attrName>
                                        </p:attrNameLst>
                                      </p:cBhvr>
                                      <p:to>
                                        <p:strVal val="hidden"/>
                                      </p:to>
                                    </p:set>
                                  </p:childTnLst>
                                </p:cTn>
                              </p:par>
                              <p:par>
                                <p:cTn id="25" presetID="6" presetClass="entr" presetSubtype="16"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ircle(in)">
                                      <p:cBhvr>
                                        <p:cTn id="27" dur="2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xit" presetSubtype="1" fill="hold" grpId="0" nodeType="clickEffect">
                                  <p:stCondLst>
                                    <p:cond delay="0"/>
                                  </p:stCondLst>
                                  <p:childTnLst>
                                    <p:animEffect transition="out" filter="wheel(1)">
                                      <p:cBhvr>
                                        <p:cTn id="31" dur="2000"/>
                                        <p:tgtEl>
                                          <p:spTgt spid="27"/>
                                        </p:tgtEl>
                                      </p:cBhvr>
                                    </p:animEffect>
                                    <p:set>
                                      <p:cBhvr>
                                        <p:cTn id="32" dur="1" fill="hold">
                                          <p:stCondLst>
                                            <p:cond delay="1999"/>
                                          </p:stCondLst>
                                        </p:cTn>
                                        <p:tgtEl>
                                          <p:spTgt spid="27"/>
                                        </p:tgtEl>
                                        <p:attrNameLst>
                                          <p:attrName>style.visibility</p:attrName>
                                        </p:attrNameLst>
                                      </p:cBhvr>
                                      <p:to>
                                        <p:strVal val="hidden"/>
                                      </p:to>
                                    </p:set>
                                  </p:childTnLst>
                                </p:cTn>
                              </p:par>
                              <p:par>
                                <p:cTn id="33" presetID="21" presetClass="entr" presetSubtype="1"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heel(1)">
                                      <p:cBhvr>
                                        <p:cTn id="35" dur="20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45" presetClass="exit" presetSubtype="0" fill="hold" grpId="0" nodeType="clickEffect">
                                  <p:stCondLst>
                                    <p:cond delay="0"/>
                                  </p:stCondLst>
                                  <p:childTnLst>
                                    <p:animEffect transition="out" filter="fade">
                                      <p:cBhvr>
                                        <p:cTn id="39" dur="2000"/>
                                        <p:tgtEl>
                                          <p:spTgt spid="28"/>
                                        </p:tgtEl>
                                      </p:cBhvr>
                                    </p:animEffect>
                                    <p:anim calcmode="lin" valueType="num">
                                      <p:cBhvr>
                                        <p:cTn id="40" dur="2000"/>
                                        <p:tgtEl>
                                          <p:spTgt spid="2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41" dur="2000"/>
                                        <p:tgtEl>
                                          <p:spTgt spid="28"/>
                                        </p:tgtEl>
                                        <p:attrNameLst>
                                          <p:attrName>ppt_h</p:attrName>
                                        </p:attrNameLst>
                                      </p:cBhvr>
                                      <p:tavLst>
                                        <p:tav tm="0">
                                          <p:val>
                                            <p:strVal val="ppt_h"/>
                                          </p:val>
                                        </p:tav>
                                        <p:tav tm="100000">
                                          <p:val>
                                            <p:strVal val="ppt_h"/>
                                          </p:val>
                                        </p:tav>
                                      </p:tavLst>
                                    </p:anim>
                                    <p:set>
                                      <p:cBhvr>
                                        <p:cTn id="42" dur="1" fill="hold">
                                          <p:stCondLst>
                                            <p:cond delay="1999"/>
                                          </p:stCondLst>
                                        </p:cTn>
                                        <p:tgtEl>
                                          <p:spTgt spid="28"/>
                                        </p:tgtEl>
                                        <p:attrNameLst>
                                          <p:attrName>style.visibility</p:attrName>
                                        </p:attrNameLst>
                                      </p:cBhvr>
                                      <p:to>
                                        <p:strVal val="hidden"/>
                                      </p:to>
                                    </p:set>
                                  </p:childTnLst>
                                </p:cTn>
                              </p:par>
                              <p:par>
                                <p:cTn id="43" presetID="45"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2000"/>
                                        <p:tgtEl>
                                          <p:spTgt spid="17"/>
                                        </p:tgtEl>
                                      </p:cBhvr>
                                    </p:animEffect>
                                    <p:anim calcmode="lin" valueType="num">
                                      <p:cBhvr>
                                        <p:cTn id="46" dur="2000" fill="hold"/>
                                        <p:tgtEl>
                                          <p:spTgt spid="17"/>
                                        </p:tgtEl>
                                        <p:attrNameLst>
                                          <p:attrName>ppt_w</p:attrName>
                                        </p:attrNameLst>
                                      </p:cBhvr>
                                      <p:tavLst>
                                        <p:tav tm="0" fmla="#ppt_w*sin(2.5*pi*$)">
                                          <p:val>
                                            <p:fltVal val="0"/>
                                          </p:val>
                                        </p:tav>
                                        <p:tav tm="100000">
                                          <p:val>
                                            <p:fltVal val="1"/>
                                          </p:val>
                                        </p:tav>
                                      </p:tavLst>
                                    </p:anim>
                                    <p:anim calcmode="lin" valueType="num">
                                      <p:cBhvr>
                                        <p:cTn id="47" dur="2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4" presetClass="exit" presetSubtype="10" fill="hold" grpId="0" nodeType="clickEffect">
                                  <p:stCondLst>
                                    <p:cond delay="0"/>
                                  </p:stCondLst>
                                  <p:childTnLst>
                                    <p:animEffect transition="out" filter="randombar(horizontal)">
                                      <p:cBhvr>
                                        <p:cTn id="51" dur="500"/>
                                        <p:tgtEl>
                                          <p:spTgt spid="29"/>
                                        </p:tgtEl>
                                      </p:cBhvr>
                                    </p:animEffect>
                                    <p:set>
                                      <p:cBhvr>
                                        <p:cTn id="52" dur="1" fill="hold">
                                          <p:stCondLst>
                                            <p:cond delay="499"/>
                                          </p:stCondLst>
                                        </p:cTn>
                                        <p:tgtEl>
                                          <p:spTgt spid="29"/>
                                        </p:tgtEl>
                                        <p:attrNameLst>
                                          <p:attrName>style.visibility</p:attrName>
                                        </p:attrNameLst>
                                      </p:cBhvr>
                                      <p:to>
                                        <p:strVal val="hidden"/>
                                      </p:to>
                                    </p:set>
                                  </p:childTnLst>
                                </p:cTn>
                              </p:par>
                              <p:par>
                                <p:cTn id="53" presetID="22" presetClass="entr" presetSubtype="4"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down)">
                                      <p:cBhvr>
                                        <p:cTn id="55" dur="500"/>
                                        <p:tgtEl>
                                          <p:spTgt spid="19"/>
                                        </p:tgtEl>
                                      </p:cBhvr>
                                    </p:animEffect>
                                  </p:childTnLst>
                                </p:cTn>
                              </p:par>
                            </p:childTnLst>
                          </p:cTn>
                        </p:par>
                      </p:childTnLst>
                    </p:cTn>
                  </p:par>
                  <p:par>
                    <p:cTn id="56" fill="hold">
                      <p:stCondLst>
                        <p:cond delay="indefinite"/>
                      </p:stCondLst>
                      <p:childTnLst>
                        <p:par>
                          <p:cTn id="57" fill="hold">
                            <p:stCondLst>
                              <p:cond delay="0"/>
                            </p:stCondLst>
                            <p:childTnLst>
                              <p:par>
                                <p:cTn id="58" presetID="31" presetClass="exit" presetSubtype="0" fill="hold" grpId="0" nodeType="clickEffect">
                                  <p:stCondLst>
                                    <p:cond delay="0"/>
                                  </p:stCondLst>
                                  <p:childTnLst>
                                    <p:anim calcmode="lin" valueType="num">
                                      <p:cBhvr>
                                        <p:cTn id="59" dur="1000"/>
                                        <p:tgtEl>
                                          <p:spTgt spid="30"/>
                                        </p:tgtEl>
                                        <p:attrNameLst>
                                          <p:attrName>ppt_w</p:attrName>
                                        </p:attrNameLst>
                                      </p:cBhvr>
                                      <p:tavLst>
                                        <p:tav tm="0">
                                          <p:val>
                                            <p:strVal val="ppt_w"/>
                                          </p:val>
                                        </p:tav>
                                        <p:tav tm="100000">
                                          <p:val>
                                            <p:fltVal val="0"/>
                                          </p:val>
                                        </p:tav>
                                      </p:tavLst>
                                    </p:anim>
                                    <p:anim calcmode="lin" valueType="num">
                                      <p:cBhvr>
                                        <p:cTn id="60" dur="1000"/>
                                        <p:tgtEl>
                                          <p:spTgt spid="30"/>
                                        </p:tgtEl>
                                        <p:attrNameLst>
                                          <p:attrName>ppt_h</p:attrName>
                                        </p:attrNameLst>
                                      </p:cBhvr>
                                      <p:tavLst>
                                        <p:tav tm="0">
                                          <p:val>
                                            <p:strVal val="ppt_h"/>
                                          </p:val>
                                        </p:tav>
                                        <p:tav tm="100000">
                                          <p:val>
                                            <p:fltVal val="0"/>
                                          </p:val>
                                        </p:tav>
                                      </p:tavLst>
                                    </p:anim>
                                    <p:anim calcmode="lin" valueType="num">
                                      <p:cBhvr>
                                        <p:cTn id="61" dur="1000"/>
                                        <p:tgtEl>
                                          <p:spTgt spid="30"/>
                                        </p:tgtEl>
                                        <p:attrNameLst>
                                          <p:attrName>style.rotation</p:attrName>
                                        </p:attrNameLst>
                                      </p:cBhvr>
                                      <p:tavLst>
                                        <p:tav tm="0">
                                          <p:val>
                                            <p:fltVal val="0"/>
                                          </p:val>
                                        </p:tav>
                                        <p:tav tm="100000">
                                          <p:val>
                                            <p:fltVal val="90"/>
                                          </p:val>
                                        </p:tav>
                                      </p:tavLst>
                                    </p:anim>
                                    <p:animEffect transition="out" filter="fade">
                                      <p:cBhvr>
                                        <p:cTn id="62" dur="1000"/>
                                        <p:tgtEl>
                                          <p:spTgt spid="30"/>
                                        </p:tgtEl>
                                      </p:cBhvr>
                                    </p:animEffect>
                                    <p:set>
                                      <p:cBhvr>
                                        <p:cTn id="63" dur="1" fill="hold">
                                          <p:stCondLst>
                                            <p:cond delay="999"/>
                                          </p:stCondLst>
                                        </p:cTn>
                                        <p:tgtEl>
                                          <p:spTgt spid="30"/>
                                        </p:tgtEl>
                                        <p:attrNameLst>
                                          <p:attrName>style.visibility</p:attrName>
                                        </p:attrNameLst>
                                      </p:cBhvr>
                                      <p:to>
                                        <p:strVal val="hidden"/>
                                      </p:to>
                                    </p:set>
                                  </p:childTnLst>
                                </p:cTn>
                              </p:par>
                              <p:par>
                                <p:cTn id="64" presetID="31" presetClass="entr" presetSubtype="0" fill="hold" nodeType="withEffect">
                                  <p:stCondLst>
                                    <p:cond delay="0"/>
                                  </p:stCondLst>
                                  <p:childTnLst>
                                    <p:set>
                                      <p:cBhvr>
                                        <p:cTn id="65" dur="1" fill="hold">
                                          <p:stCondLst>
                                            <p:cond delay="0"/>
                                          </p:stCondLst>
                                        </p:cTn>
                                        <p:tgtEl>
                                          <p:spTgt spid="21"/>
                                        </p:tgtEl>
                                        <p:attrNameLst>
                                          <p:attrName>style.visibility</p:attrName>
                                        </p:attrNameLst>
                                      </p:cBhvr>
                                      <p:to>
                                        <p:strVal val="visible"/>
                                      </p:to>
                                    </p:set>
                                    <p:anim calcmode="lin" valueType="num">
                                      <p:cBhvr>
                                        <p:cTn id="66" dur="1000" fill="hold"/>
                                        <p:tgtEl>
                                          <p:spTgt spid="21"/>
                                        </p:tgtEl>
                                        <p:attrNameLst>
                                          <p:attrName>ppt_w</p:attrName>
                                        </p:attrNameLst>
                                      </p:cBhvr>
                                      <p:tavLst>
                                        <p:tav tm="0">
                                          <p:val>
                                            <p:fltVal val="0"/>
                                          </p:val>
                                        </p:tav>
                                        <p:tav tm="100000">
                                          <p:val>
                                            <p:strVal val="#ppt_w"/>
                                          </p:val>
                                        </p:tav>
                                      </p:tavLst>
                                    </p:anim>
                                    <p:anim calcmode="lin" valueType="num">
                                      <p:cBhvr>
                                        <p:cTn id="67" dur="1000" fill="hold"/>
                                        <p:tgtEl>
                                          <p:spTgt spid="21"/>
                                        </p:tgtEl>
                                        <p:attrNameLst>
                                          <p:attrName>ppt_h</p:attrName>
                                        </p:attrNameLst>
                                      </p:cBhvr>
                                      <p:tavLst>
                                        <p:tav tm="0">
                                          <p:val>
                                            <p:fltVal val="0"/>
                                          </p:val>
                                        </p:tav>
                                        <p:tav tm="100000">
                                          <p:val>
                                            <p:strVal val="#ppt_h"/>
                                          </p:val>
                                        </p:tav>
                                      </p:tavLst>
                                    </p:anim>
                                    <p:anim calcmode="lin" valueType="num">
                                      <p:cBhvr>
                                        <p:cTn id="68" dur="1000" fill="hold"/>
                                        <p:tgtEl>
                                          <p:spTgt spid="21"/>
                                        </p:tgtEl>
                                        <p:attrNameLst>
                                          <p:attrName>style.rotation</p:attrName>
                                        </p:attrNameLst>
                                      </p:cBhvr>
                                      <p:tavLst>
                                        <p:tav tm="0">
                                          <p:val>
                                            <p:fltVal val="90"/>
                                          </p:val>
                                        </p:tav>
                                        <p:tav tm="100000">
                                          <p:val>
                                            <p:fltVal val="0"/>
                                          </p:val>
                                        </p:tav>
                                      </p:tavLst>
                                    </p:anim>
                                    <p:animEffect transition="in" filter="fade">
                                      <p:cBhvr>
                                        <p:cTn id="69" dur="10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26" presetClass="exit" presetSubtype="0" fill="hold" grpId="0" nodeType="clickEffect">
                                  <p:stCondLst>
                                    <p:cond delay="0"/>
                                  </p:stCondLst>
                                  <p:childTnLst>
                                    <p:animEffect transition="out" filter="wipe(down)">
                                      <p:cBhvr>
                                        <p:cTn id="73" dur="180" accel="50000">
                                          <p:stCondLst>
                                            <p:cond delay="1820"/>
                                          </p:stCondLst>
                                        </p:cTn>
                                        <p:tgtEl>
                                          <p:spTgt spid="31"/>
                                        </p:tgtEl>
                                      </p:cBhvr>
                                    </p:animEffect>
                                    <p:anim calcmode="lin" valueType="num">
                                      <p:cBhvr>
                                        <p:cTn id="74" dur="1822" tmFilter="0,0; 0.14,0.31; 0.43,0.73; 0.71,0.91; 1.0,1.0">
                                          <p:stCondLst>
                                            <p:cond delay="0"/>
                                          </p:stCondLst>
                                        </p:cTn>
                                        <p:tgtEl>
                                          <p:spTgt spid="31"/>
                                        </p:tgtEl>
                                        <p:attrNameLst>
                                          <p:attrName>ppt_x</p:attrName>
                                        </p:attrNameLst>
                                      </p:cBhvr>
                                      <p:tavLst>
                                        <p:tav tm="0">
                                          <p:val>
                                            <p:strVal val="ppt_x"/>
                                          </p:val>
                                        </p:tav>
                                        <p:tav tm="100000">
                                          <p:val>
                                            <p:strVal val="#ppt_x+0.25"/>
                                          </p:val>
                                        </p:tav>
                                      </p:tavLst>
                                    </p:anim>
                                    <p:anim calcmode="lin" valueType="num">
                                      <p:cBhvr>
                                        <p:cTn id="75" dur="178">
                                          <p:stCondLst>
                                            <p:cond delay="1822"/>
                                          </p:stCondLst>
                                        </p:cTn>
                                        <p:tgtEl>
                                          <p:spTgt spid="31"/>
                                        </p:tgtEl>
                                        <p:attrNameLst>
                                          <p:attrName>ppt_x</p:attrName>
                                        </p:attrNameLst>
                                      </p:cBhvr>
                                      <p:tavLst>
                                        <p:tav tm="0">
                                          <p:val>
                                            <p:strVal val="ppt_x"/>
                                          </p:val>
                                        </p:tav>
                                        <p:tav tm="100000">
                                          <p:val>
                                            <p:strVal val="ppt_x"/>
                                          </p:val>
                                        </p:tav>
                                      </p:tavLst>
                                    </p:anim>
                                    <p:anim calcmode="lin" valueType="num">
                                      <p:cBhvr>
                                        <p:cTn id="76" dur="664" tmFilter="0.0,0.0;0.25,0.07;0.50,0.2;0.75,0.467;1.0,1.0">
                                          <p:stCondLst>
                                            <p:cond delay="0"/>
                                          </p:stCondLst>
                                        </p:cTn>
                                        <p:tgtEl>
                                          <p:spTgt spid="31"/>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77" dur="664" tmFilter="0, 0; 0.125,0.2665; 0.25,0.4; 0.375,0.465; 0.5,0.5;  0.625,0.535; 0.75,0.6; 0.875,0.7335; 1,1">
                                          <p:stCondLst>
                                            <p:cond delay="664"/>
                                          </p:stCondLst>
                                        </p:cTn>
                                        <p:tgtEl>
                                          <p:spTgt spid="31"/>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78" dur="332" tmFilter="0, 0; 0.125,0.2665; 0.25,0.4; 0.375,0.465; 0.5,0.5;  0.625,0.535; 0.75,0.6; 0.875,0.7335; 1,1">
                                          <p:stCondLst>
                                            <p:cond delay="1324"/>
                                          </p:stCondLst>
                                        </p:cTn>
                                        <p:tgtEl>
                                          <p:spTgt spid="31"/>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79" dur="164" tmFilter="0, 0; 0.125,0.2665; 0.25,0.4; 0.375,0.465; 0.5,0.5;  0.625,0.535; 0.75,0.6; 0.875,0.7335; 1,1">
                                          <p:stCondLst>
                                            <p:cond delay="1656"/>
                                          </p:stCondLst>
                                        </p:cTn>
                                        <p:tgtEl>
                                          <p:spTgt spid="31"/>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80" dur="180" accel="50000">
                                          <p:stCondLst>
                                            <p:cond delay="1820"/>
                                          </p:stCondLst>
                                        </p:cTn>
                                        <p:tgtEl>
                                          <p:spTgt spid="31"/>
                                        </p:tgtEl>
                                        <p:attrNameLst>
                                          <p:attrName>ppt_y</p:attrName>
                                        </p:attrNameLst>
                                      </p:cBhvr>
                                      <p:tavLst>
                                        <p:tav tm="0">
                                          <p:val>
                                            <p:strVal val="ppt_y"/>
                                          </p:val>
                                        </p:tav>
                                        <p:tav tm="100000">
                                          <p:val>
                                            <p:strVal val="ppt_y+ppt_h"/>
                                          </p:val>
                                        </p:tav>
                                      </p:tavLst>
                                    </p:anim>
                                    <p:animScale>
                                      <p:cBhvr>
                                        <p:cTn id="81" dur="26">
                                          <p:stCondLst>
                                            <p:cond delay="620"/>
                                          </p:stCondLst>
                                        </p:cTn>
                                        <p:tgtEl>
                                          <p:spTgt spid="31"/>
                                        </p:tgtEl>
                                      </p:cBhvr>
                                      <p:to x="100000" y="60000"/>
                                    </p:animScale>
                                    <p:animScale>
                                      <p:cBhvr>
                                        <p:cTn id="82" dur="166" decel="50000">
                                          <p:stCondLst>
                                            <p:cond delay="646"/>
                                          </p:stCondLst>
                                        </p:cTn>
                                        <p:tgtEl>
                                          <p:spTgt spid="31"/>
                                        </p:tgtEl>
                                      </p:cBhvr>
                                      <p:to x="100000" y="100000"/>
                                    </p:animScale>
                                    <p:animScale>
                                      <p:cBhvr>
                                        <p:cTn id="83" dur="26">
                                          <p:stCondLst>
                                            <p:cond delay="1312"/>
                                          </p:stCondLst>
                                        </p:cTn>
                                        <p:tgtEl>
                                          <p:spTgt spid="31"/>
                                        </p:tgtEl>
                                      </p:cBhvr>
                                      <p:to x="100000" y="80000"/>
                                    </p:animScale>
                                    <p:animScale>
                                      <p:cBhvr>
                                        <p:cTn id="84" dur="166" decel="50000">
                                          <p:stCondLst>
                                            <p:cond delay="1338"/>
                                          </p:stCondLst>
                                        </p:cTn>
                                        <p:tgtEl>
                                          <p:spTgt spid="31"/>
                                        </p:tgtEl>
                                      </p:cBhvr>
                                      <p:to x="100000" y="100000"/>
                                    </p:animScale>
                                    <p:animScale>
                                      <p:cBhvr>
                                        <p:cTn id="85" dur="26">
                                          <p:stCondLst>
                                            <p:cond delay="1642"/>
                                          </p:stCondLst>
                                        </p:cTn>
                                        <p:tgtEl>
                                          <p:spTgt spid="31"/>
                                        </p:tgtEl>
                                      </p:cBhvr>
                                      <p:to x="100000" y="90000"/>
                                    </p:animScale>
                                    <p:animScale>
                                      <p:cBhvr>
                                        <p:cTn id="86" dur="166" decel="50000">
                                          <p:stCondLst>
                                            <p:cond delay="1668"/>
                                          </p:stCondLst>
                                        </p:cTn>
                                        <p:tgtEl>
                                          <p:spTgt spid="31"/>
                                        </p:tgtEl>
                                      </p:cBhvr>
                                      <p:to x="100000" y="100000"/>
                                    </p:animScale>
                                    <p:animScale>
                                      <p:cBhvr>
                                        <p:cTn id="87" dur="26">
                                          <p:stCondLst>
                                            <p:cond delay="1808"/>
                                          </p:stCondLst>
                                        </p:cTn>
                                        <p:tgtEl>
                                          <p:spTgt spid="31"/>
                                        </p:tgtEl>
                                      </p:cBhvr>
                                      <p:to x="100000" y="95000"/>
                                    </p:animScale>
                                    <p:animScale>
                                      <p:cBhvr>
                                        <p:cTn id="88" dur="166" decel="50000">
                                          <p:stCondLst>
                                            <p:cond delay="1834"/>
                                          </p:stCondLst>
                                        </p:cTn>
                                        <p:tgtEl>
                                          <p:spTgt spid="31"/>
                                        </p:tgtEl>
                                      </p:cBhvr>
                                      <p:to x="100000" y="100000"/>
                                    </p:animScale>
                                    <p:set>
                                      <p:cBhvr>
                                        <p:cTn id="89" dur="1" fill="hold">
                                          <p:stCondLst>
                                            <p:cond delay="1999"/>
                                          </p:stCondLst>
                                        </p:cTn>
                                        <p:tgtEl>
                                          <p:spTgt spid="31"/>
                                        </p:tgtEl>
                                        <p:attrNameLst>
                                          <p:attrName>style.visibility</p:attrName>
                                        </p:attrNameLst>
                                      </p:cBhvr>
                                      <p:to>
                                        <p:strVal val="hidden"/>
                                      </p:to>
                                    </p:set>
                                  </p:childTnLst>
                                </p:cTn>
                              </p:par>
                              <p:par>
                                <p:cTn id="90" presetID="42" presetClass="entr" presetSubtype="0" fill="hold" nodeType="with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1000"/>
                                        <p:tgtEl>
                                          <p:spTgt spid="23"/>
                                        </p:tgtEl>
                                      </p:cBhvr>
                                    </p:animEffect>
                                    <p:anim calcmode="lin" valueType="num">
                                      <p:cBhvr>
                                        <p:cTn id="93" dur="1000" fill="hold"/>
                                        <p:tgtEl>
                                          <p:spTgt spid="23"/>
                                        </p:tgtEl>
                                        <p:attrNameLst>
                                          <p:attrName>ppt_x</p:attrName>
                                        </p:attrNameLst>
                                      </p:cBhvr>
                                      <p:tavLst>
                                        <p:tav tm="0">
                                          <p:val>
                                            <p:strVal val="#ppt_x"/>
                                          </p:val>
                                        </p:tav>
                                        <p:tav tm="100000">
                                          <p:val>
                                            <p:strVal val="#ppt_x"/>
                                          </p:val>
                                        </p:tav>
                                      </p:tavLst>
                                    </p:anim>
                                    <p:anim calcmode="lin" valueType="num">
                                      <p:cBhvr>
                                        <p:cTn id="9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 logo&#10;&#10;Description automatically generated">
            <a:extLst>
              <a:ext uri="{FF2B5EF4-FFF2-40B4-BE49-F238E27FC236}">
                <a16:creationId xmlns:a16="http://schemas.microsoft.com/office/drawing/2014/main" id="{C3B990E6-974D-3030-1956-C7F31DECD27B}"/>
              </a:ext>
            </a:extLst>
          </p:cNvPr>
          <p:cNvPicPr>
            <a:picLocks noChangeAspect="1"/>
          </p:cNvPicPr>
          <p:nvPr/>
        </p:nvPicPr>
        <p:blipFill>
          <a:blip r:embed="rId2">
            <a:alphaModFix amt="35000"/>
          </a:blip>
          <a:stretch>
            <a:fillRect/>
          </a:stretch>
        </p:blipFill>
        <p:spPr>
          <a:xfrm rot="20023087">
            <a:off x="1269151" y="2031025"/>
            <a:ext cx="10370342" cy="2125369"/>
          </a:xfrm>
          <a:prstGeom prst="rect">
            <a:avLst/>
          </a:prstGeom>
          <a:ln>
            <a:noFill/>
          </a:ln>
          <a:effectLst>
            <a:softEdge rad="112500"/>
          </a:effectLst>
        </p:spPr>
      </p:pic>
      <p:sp>
        <p:nvSpPr>
          <p:cNvPr id="3" name="TextBox 2">
            <a:extLst>
              <a:ext uri="{FF2B5EF4-FFF2-40B4-BE49-F238E27FC236}">
                <a16:creationId xmlns:a16="http://schemas.microsoft.com/office/drawing/2014/main" id="{69551D61-140F-9F92-D4A5-BFB1BCFBA719}"/>
              </a:ext>
            </a:extLst>
          </p:cNvPr>
          <p:cNvSpPr txBox="1"/>
          <p:nvPr/>
        </p:nvSpPr>
        <p:spPr>
          <a:xfrm>
            <a:off x="1075888" y="486453"/>
            <a:ext cx="6094602" cy="369332"/>
          </a:xfrm>
          <a:prstGeom prst="rect">
            <a:avLst/>
          </a:prstGeom>
          <a:noFill/>
        </p:spPr>
        <p:txBody>
          <a:bodyPr wrap="square">
            <a:spAutoFit/>
          </a:bodyPr>
          <a:lstStyle/>
          <a:p>
            <a:r>
              <a:rPr lang="en-IN" sz="1800" dirty="0"/>
              <a:t>Need of Automotive security :</a:t>
            </a:r>
          </a:p>
        </p:txBody>
      </p:sp>
      <p:sp>
        <p:nvSpPr>
          <p:cNvPr id="5" name="TextBox 4">
            <a:extLst>
              <a:ext uri="{FF2B5EF4-FFF2-40B4-BE49-F238E27FC236}">
                <a16:creationId xmlns:a16="http://schemas.microsoft.com/office/drawing/2014/main" id="{9373E067-5AAD-939A-1652-5D6D4A29C8EE}"/>
              </a:ext>
            </a:extLst>
          </p:cNvPr>
          <p:cNvSpPr txBox="1"/>
          <p:nvPr/>
        </p:nvSpPr>
        <p:spPr>
          <a:xfrm>
            <a:off x="3693345" y="823694"/>
            <a:ext cx="3929968" cy="1200329"/>
          </a:xfrm>
          <a:prstGeom prst="rect">
            <a:avLst/>
          </a:prstGeom>
          <a:noFill/>
        </p:spPr>
        <p:txBody>
          <a:bodyPr wrap="square">
            <a:spAutoFit/>
          </a:bodyPr>
          <a:lstStyle/>
          <a:p>
            <a:r>
              <a:rPr lang="en-US" b="1" dirty="0"/>
              <a:t>Do   you   know :   Nowadays          	“Software on Wheel”</a:t>
            </a:r>
            <a:br>
              <a:rPr lang="en-US" dirty="0"/>
            </a:br>
            <a:br>
              <a:rPr lang="en-US" dirty="0"/>
            </a:br>
            <a:endParaRPr lang="en-US" dirty="0"/>
          </a:p>
        </p:txBody>
      </p:sp>
      <p:pic>
        <p:nvPicPr>
          <p:cNvPr id="11" name="Picture 10">
            <a:extLst>
              <a:ext uri="{FF2B5EF4-FFF2-40B4-BE49-F238E27FC236}">
                <a16:creationId xmlns:a16="http://schemas.microsoft.com/office/drawing/2014/main" id="{D5E65CD4-1675-466A-31E5-60819FDE0828}"/>
              </a:ext>
            </a:extLst>
          </p:cNvPr>
          <p:cNvPicPr>
            <a:picLocks noChangeAspect="1"/>
          </p:cNvPicPr>
          <p:nvPr/>
        </p:nvPicPr>
        <p:blipFill>
          <a:blip r:embed="rId3"/>
          <a:stretch>
            <a:fillRect/>
          </a:stretch>
        </p:blipFill>
        <p:spPr>
          <a:xfrm>
            <a:off x="1179029" y="2562432"/>
            <a:ext cx="4993171" cy="3430863"/>
          </a:xfrm>
          <a:prstGeom prst="rect">
            <a:avLst/>
          </a:prstGeom>
          <a:ln w="88900" cap="sq" cmpd="thickThin">
            <a:solidFill>
              <a:srgbClr val="000000"/>
            </a:solidFill>
            <a:prstDash val="solid"/>
            <a:miter lim="800000"/>
          </a:ln>
          <a:effectLst>
            <a:innerShdw blurRad="76200">
              <a:srgbClr val="000000"/>
            </a:innerShdw>
          </a:effectLst>
        </p:spPr>
      </p:pic>
      <p:sp>
        <p:nvSpPr>
          <p:cNvPr id="12" name="TextBox 11">
            <a:extLst>
              <a:ext uri="{FF2B5EF4-FFF2-40B4-BE49-F238E27FC236}">
                <a16:creationId xmlns:a16="http://schemas.microsoft.com/office/drawing/2014/main" id="{3C25D562-B1DE-D44A-B2EE-937DD11B8203}"/>
              </a:ext>
            </a:extLst>
          </p:cNvPr>
          <p:cNvSpPr txBox="1"/>
          <p:nvPr/>
        </p:nvSpPr>
        <p:spPr>
          <a:xfrm>
            <a:off x="1103244" y="1570383"/>
            <a:ext cx="5178287" cy="923330"/>
          </a:xfrm>
          <a:prstGeom prst="rect">
            <a:avLst/>
          </a:prstGeom>
          <a:noFill/>
        </p:spPr>
        <p:txBody>
          <a:bodyPr wrap="square" rtlCol="0">
            <a:spAutoFit/>
          </a:bodyPr>
          <a:lstStyle/>
          <a:p>
            <a:r>
              <a:rPr lang="en-IN" b="1" u="sng" dirty="0"/>
              <a:t>1980 :</a:t>
            </a:r>
          </a:p>
          <a:p>
            <a:endParaRPr lang="en-IN" b="1" u="sng" dirty="0"/>
          </a:p>
          <a:p>
            <a:r>
              <a:rPr lang="en-IN" dirty="0"/>
              <a:t> No much connectivity : In fact 20% Software</a:t>
            </a:r>
          </a:p>
        </p:txBody>
      </p:sp>
      <p:sp>
        <p:nvSpPr>
          <p:cNvPr id="14" name="TextBox 13">
            <a:extLst>
              <a:ext uri="{FF2B5EF4-FFF2-40B4-BE49-F238E27FC236}">
                <a16:creationId xmlns:a16="http://schemas.microsoft.com/office/drawing/2014/main" id="{5F2579E3-B38E-08E7-13DE-26DFF70CA3AE}"/>
              </a:ext>
            </a:extLst>
          </p:cNvPr>
          <p:cNvSpPr txBox="1"/>
          <p:nvPr/>
        </p:nvSpPr>
        <p:spPr>
          <a:xfrm>
            <a:off x="6523382" y="1593574"/>
            <a:ext cx="5178287" cy="923330"/>
          </a:xfrm>
          <a:prstGeom prst="rect">
            <a:avLst/>
          </a:prstGeom>
          <a:noFill/>
        </p:spPr>
        <p:txBody>
          <a:bodyPr wrap="square" rtlCol="0">
            <a:spAutoFit/>
          </a:bodyPr>
          <a:lstStyle/>
          <a:p>
            <a:r>
              <a:rPr lang="en-IN" b="1" u="sng" dirty="0"/>
              <a:t>2020 :</a:t>
            </a:r>
          </a:p>
          <a:p>
            <a:endParaRPr lang="en-IN" b="1" u="sng" dirty="0"/>
          </a:p>
          <a:p>
            <a:r>
              <a:rPr lang="en-IN" dirty="0"/>
              <a:t> 40-60% Software :  20 % Cars are connected</a:t>
            </a:r>
          </a:p>
        </p:txBody>
      </p:sp>
      <p:pic>
        <p:nvPicPr>
          <p:cNvPr id="16" name="Picture 15">
            <a:extLst>
              <a:ext uri="{FF2B5EF4-FFF2-40B4-BE49-F238E27FC236}">
                <a16:creationId xmlns:a16="http://schemas.microsoft.com/office/drawing/2014/main" id="{0EFC491B-2360-119B-20D1-ED6CE9500D8F}"/>
              </a:ext>
            </a:extLst>
          </p:cNvPr>
          <p:cNvPicPr>
            <a:picLocks noChangeAspect="1"/>
          </p:cNvPicPr>
          <p:nvPr/>
        </p:nvPicPr>
        <p:blipFill>
          <a:blip r:embed="rId4"/>
          <a:stretch>
            <a:fillRect/>
          </a:stretch>
        </p:blipFill>
        <p:spPr>
          <a:xfrm>
            <a:off x="6424611" y="2566159"/>
            <a:ext cx="4836423" cy="3466893"/>
          </a:xfrm>
          <a:prstGeom prst="rect">
            <a:avLst/>
          </a:prstGeom>
          <a:ln w="88900" cap="sq" cmpd="thickThin">
            <a:solidFill>
              <a:srgbClr val="000000"/>
            </a:solidFill>
            <a:prstDash val="solid"/>
            <a:miter lim="800000"/>
          </a:ln>
          <a:effectLst>
            <a:innerShdw blurRad="76200">
              <a:srgbClr val="000000"/>
            </a:innerShdw>
          </a:effectLst>
        </p:spPr>
      </p:pic>
      <p:sp>
        <p:nvSpPr>
          <p:cNvPr id="17" name="Rectangle 16">
            <a:extLst>
              <a:ext uri="{FF2B5EF4-FFF2-40B4-BE49-F238E27FC236}">
                <a16:creationId xmlns:a16="http://schemas.microsoft.com/office/drawing/2014/main" id="{BB293B6E-3584-FB71-C871-BB65DC24F064}"/>
              </a:ext>
            </a:extLst>
          </p:cNvPr>
          <p:cNvSpPr/>
          <p:nvPr/>
        </p:nvSpPr>
        <p:spPr>
          <a:xfrm>
            <a:off x="2743199" y="6202014"/>
            <a:ext cx="178905" cy="327994"/>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28D1E62C-5614-8A9A-5E5B-FDE551FBE07F}"/>
              </a:ext>
            </a:extLst>
          </p:cNvPr>
          <p:cNvSpPr txBox="1"/>
          <p:nvPr/>
        </p:nvSpPr>
        <p:spPr>
          <a:xfrm>
            <a:off x="1073425" y="6166436"/>
            <a:ext cx="1600202" cy="369332"/>
          </a:xfrm>
          <a:prstGeom prst="rect">
            <a:avLst/>
          </a:prstGeom>
          <a:noFill/>
        </p:spPr>
        <p:txBody>
          <a:bodyPr wrap="square">
            <a:spAutoFit/>
          </a:bodyPr>
          <a:lstStyle/>
          <a:p>
            <a:pPr algn="ctr"/>
            <a:r>
              <a:rPr lang="en-IN" dirty="0"/>
              <a:t>Risk of attack</a:t>
            </a:r>
          </a:p>
        </p:txBody>
      </p:sp>
      <p:sp>
        <p:nvSpPr>
          <p:cNvPr id="22" name="Rectangle 21">
            <a:extLst>
              <a:ext uri="{FF2B5EF4-FFF2-40B4-BE49-F238E27FC236}">
                <a16:creationId xmlns:a16="http://schemas.microsoft.com/office/drawing/2014/main" id="{FCA77AD7-3818-277D-54E8-8F3D2E70ADAF}"/>
              </a:ext>
            </a:extLst>
          </p:cNvPr>
          <p:cNvSpPr/>
          <p:nvPr/>
        </p:nvSpPr>
        <p:spPr>
          <a:xfrm>
            <a:off x="8133521" y="6225205"/>
            <a:ext cx="3207027" cy="327994"/>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p>
        </p:txBody>
      </p:sp>
      <p:sp>
        <p:nvSpPr>
          <p:cNvPr id="23" name="TextBox 22">
            <a:extLst>
              <a:ext uri="{FF2B5EF4-FFF2-40B4-BE49-F238E27FC236}">
                <a16:creationId xmlns:a16="http://schemas.microsoft.com/office/drawing/2014/main" id="{E100B5FB-F112-19EA-54CC-33704C86666A}"/>
              </a:ext>
            </a:extLst>
          </p:cNvPr>
          <p:cNvSpPr txBox="1"/>
          <p:nvPr/>
        </p:nvSpPr>
        <p:spPr>
          <a:xfrm>
            <a:off x="6463747" y="6189627"/>
            <a:ext cx="1600202" cy="369332"/>
          </a:xfrm>
          <a:prstGeom prst="rect">
            <a:avLst/>
          </a:prstGeom>
          <a:noFill/>
        </p:spPr>
        <p:txBody>
          <a:bodyPr wrap="square">
            <a:spAutoFit/>
          </a:bodyPr>
          <a:lstStyle/>
          <a:p>
            <a:pPr algn="ctr"/>
            <a:r>
              <a:rPr lang="en-IN" dirty="0"/>
              <a:t>Risk of attack</a:t>
            </a:r>
          </a:p>
        </p:txBody>
      </p:sp>
    </p:spTree>
    <p:extLst>
      <p:ext uri="{BB962C8B-B14F-4D97-AF65-F5344CB8AC3E}">
        <p14:creationId xmlns:p14="http://schemas.microsoft.com/office/powerpoint/2010/main" val="219004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ircle(in)">
                                      <p:cBhvr>
                                        <p:cTn id="13" dur="2000"/>
                                        <p:tgtEl>
                                          <p:spTgt spid="12"/>
                                        </p:tgtEl>
                                      </p:cBhvr>
                                    </p:animEffect>
                                  </p:childTnLst>
                                </p:cTn>
                              </p:par>
                              <p:par>
                                <p:cTn id="14" presetID="6" presetClass="entr" presetSubtype="1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in)">
                                      <p:cBhvr>
                                        <p:cTn id="16" dur="2000"/>
                                        <p:tgtEl>
                                          <p:spTgt spid="11"/>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circle(in)">
                                      <p:cBhvr>
                                        <p:cTn id="19" dur="2000"/>
                                        <p:tgtEl>
                                          <p:spTgt spid="19"/>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circle(in)">
                                      <p:cBhvr>
                                        <p:cTn id="22" dur="2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1000" fill="hold"/>
                                        <p:tgtEl>
                                          <p:spTgt spid="14"/>
                                        </p:tgtEl>
                                        <p:attrNameLst>
                                          <p:attrName>ppt_w</p:attrName>
                                        </p:attrNameLst>
                                      </p:cBhvr>
                                      <p:tavLst>
                                        <p:tav tm="0">
                                          <p:val>
                                            <p:fltVal val="0"/>
                                          </p:val>
                                        </p:tav>
                                        <p:tav tm="100000">
                                          <p:val>
                                            <p:strVal val="#ppt_w"/>
                                          </p:val>
                                        </p:tav>
                                      </p:tavLst>
                                    </p:anim>
                                    <p:anim calcmode="lin" valueType="num">
                                      <p:cBhvr>
                                        <p:cTn id="28" dur="1000" fill="hold"/>
                                        <p:tgtEl>
                                          <p:spTgt spid="14"/>
                                        </p:tgtEl>
                                        <p:attrNameLst>
                                          <p:attrName>ppt_h</p:attrName>
                                        </p:attrNameLst>
                                      </p:cBhvr>
                                      <p:tavLst>
                                        <p:tav tm="0">
                                          <p:val>
                                            <p:fltVal val="0"/>
                                          </p:val>
                                        </p:tav>
                                        <p:tav tm="100000">
                                          <p:val>
                                            <p:strVal val="#ppt_h"/>
                                          </p:val>
                                        </p:tav>
                                      </p:tavLst>
                                    </p:anim>
                                    <p:anim calcmode="lin" valueType="num">
                                      <p:cBhvr>
                                        <p:cTn id="29" dur="1000" fill="hold"/>
                                        <p:tgtEl>
                                          <p:spTgt spid="14"/>
                                        </p:tgtEl>
                                        <p:attrNameLst>
                                          <p:attrName>style.rotation</p:attrName>
                                        </p:attrNameLst>
                                      </p:cBhvr>
                                      <p:tavLst>
                                        <p:tav tm="0">
                                          <p:val>
                                            <p:fltVal val="90"/>
                                          </p:val>
                                        </p:tav>
                                        <p:tav tm="100000">
                                          <p:val>
                                            <p:fltVal val="0"/>
                                          </p:val>
                                        </p:tav>
                                      </p:tavLst>
                                    </p:anim>
                                    <p:animEffect transition="in" filter="fade">
                                      <p:cBhvr>
                                        <p:cTn id="30" dur="1000"/>
                                        <p:tgtEl>
                                          <p:spTgt spid="14"/>
                                        </p:tgtEl>
                                      </p:cBhvr>
                                    </p:animEffect>
                                  </p:childTnLst>
                                </p:cTn>
                              </p:par>
                              <p:par>
                                <p:cTn id="31" presetID="3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1000" fill="hold"/>
                                        <p:tgtEl>
                                          <p:spTgt spid="16"/>
                                        </p:tgtEl>
                                        <p:attrNameLst>
                                          <p:attrName>ppt_w</p:attrName>
                                        </p:attrNameLst>
                                      </p:cBhvr>
                                      <p:tavLst>
                                        <p:tav tm="0">
                                          <p:val>
                                            <p:fltVal val="0"/>
                                          </p:val>
                                        </p:tav>
                                        <p:tav tm="100000">
                                          <p:val>
                                            <p:strVal val="#ppt_w"/>
                                          </p:val>
                                        </p:tav>
                                      </p:tavLst>
                                    </p:anim>
                                    <p:anim calcmode="lin" valueType="num">
                                      <p:cBhvr>
                                        <p:cTn id="34" dur="1000" fill="hold"/>
                                        <p:tgtEl>
                                          <p:spTgt spid="16"/>
                                        </p:tgtEl>
                                        <p:attrNameLst>
                                          <p:attrName>ppt_h</p:attrName>
                                        </p:attrNameLst>
                                      </p:cBhvr>
                                      <p:tavLst>
                                        <p:tav tm="0">
                                          <p:val>
                                            <p:fltVal val="0"/>
                                          </p:val>
                                        </p:tav>
                                        <p:tav tm="100000">
                                          <p:val>
                                            <p:strVal val="#ppt_h"/>
                                          </p:val>
                                        </p:tav>
                                      </p:tavLst>
                                    </p:anim>
                                    <p:anim calcmode="lin" valueType="num">
                                      <p:cBhvr>
                                        <p:cTn id="35" dur="1000" fill="hold"/>
                                        <p:tgtEl>
                                          <p:spTgt spid="16"/>
                                        </p:tgtEl>
                                        <p:attrNameLst>
                                          <p:attrName>style.rotation</p:attrName>
                                        </p:attrNameLst>
                                      </p:cBhvr>
                                      <p:tavLst>
                                        <p:tav tm="0">
                                          <p:val>
                                            <p:fltVal val="90"/>
                                          </p:val>
                                        </p:tav>
                                        <p:tav tm="100000">
                                          <p:val>
                                            <p:fltVal val="0"/>
                                          </p:val>
                                        </p:tav>
                                      </p:tavLst>
                                    </p:anim>
                                    <p:animEffect transition="in" filter="fade">
                                      <p:cBhvr>
                                        <p:cTn id="36" dur="10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45"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2000"/>
                                        <p:tgtEl>
                                          <p:spTgt spid="23"/>
                                        </p:tgtEl>
                                      </p:cBhvr>
                                    </p:animEffect>
                                    <p:anim calcmode="lin" valueType="num">
                                      <p:cBhvr>
                                        <p:cTn id="42" dur="2000" fill="hold"/>
                                        <p:tgtEl>
                                          <p:spTgt spid="23"/>
                                        </p:tgtEl>
                                        <p:attrNameLst>
                                          <p:attrName>ppt_w</p:attrName>
                                        </p:attrNameLst>
                                      </p:cBhvr>
                                      <p:tavLst>
                                        <p:tav tm="0" fmla="#ppt_w*sin(2.5*pi*$)">
                                          <p:val>
                                            <p:fltVal val="0"/>
                                          </p:val>
                                        </p:tav>
                                        <p:tav tm="100000">
                                          <p:val>
                                            <p:fltVal val="1"/>
                                          </p:val>
                                        </p:tav>
                                      </p:tavLst>
                                    </p:anim>
                                    <p:anim calcmode="lin" valueType="num">
                                      <p:cBhvr>
                                        <p:cTn id="43" dur="2000" fill="hold"/>
                                        <p:tgtEl>
                                          <p:spTgt spid="23"/>
                                        </p:tgtEl>
                                        <p:attrNameLst>
                                          <p:attrName>ppt_h</p:attrName>
                                        </p:attrNameLst>
                                      </p:cBhvr>
                                      <p:tavLst>
                                        <p:tav tm="0">
                                          <p:val>
                                            <p:strVal val="#ppt_h"/>
                                          </p:val>
                                        </p:tav>
                                        <p:tav tm="100000">
                                          <p:val>
                                            <p:strVal val="#ppt_h"/>
                                          </p:val>
                                        </p:tav>
                                      </p:tavLst>
                                    </p:anim>
                                  </p:childTnLst>
                                </p:cTn>
                              </p:par>
                              <p:par>
                                <p:cTn id="44" presetID="45"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2000"/>
                                        <p:tgtEl>
                                          <p:spTgt spid="22"/>
                                        </p:tgtEl>
                                      </p:cBhvr>
                                    </p:animEffect>
                                    <p:anim calcmode="lin" valueType="num">
                                      <p:cBhvr>
                                        <p:cTn id="47" dur="2000" fill="hold"/>
                                        <p:tgtEl>
                                          <p:spTgt spid="22"/>
                                        </p:tgtEl>
                                        <p:attrNameLst>
                                          <p:attrName>ppt_w</p:attrName>
                                        </p:attrNameLst>
                                      </p:cBhvr>
                                      <p:tavLst>
                                        <p:tav tm="0" fmla="#ppt_w*sin(2.5*pi*$)">
                                          <p:val>
                                            <p:fltVal val="0"/>
                                          </p:val>
                                        </p:tav>
                                        <p:tav tm="100000">
                                          <p:val>
                                            <p:fltVal val="1"/>
                                          </p:val>
                                        </p:tav>
                                      </p:tavLst>
                                    </p:anim>
                                    <p:anim calcmode="lin" valueType="num">
                                      <p:cBhvr>
                                        <p:cTn id="48" dur="2000" fill="hold"/>
                                        <p:tgtEl>
                                          <p:spTgt spid="2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4" grpId="0"/>
      <p:bldP spid="17" grpId="0" animBg="1"/>
      <p:bldP spid="19" grpId="0"/>
      <p:bldP spid="22" grpId="0" animBg="1"/>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551D61-140F-9F92-D4A5-BFB1BCFBA719}"/>
              </a:ext>
            </a:extLst>
          </p:cNvPr>
          <p:cNvSpPr txBox="1"/>
          <p:nvPr/>
        </p:nvSpPr>
        <p:spPr>
          <a:xfrm>
            <a:off x="1075888" y="486453"/>
            <a:ext cx="6094602" cy="369332"/>
          </a:xfrm>
          <a:prstGeom prst="rect">
            <a:avLst/>
          </a:prstGeom>
          <a:noFill/>
        </p:spPr>
        <p:txBody>
          <a:bodyPr wrap="square">
            <a:spAutoFit/>
          </a:bodyPr>
          <a:lstStyle/>
          <a:p>
            <a:r>
              <a:rPr lang="en-IN" sz="1800" dirty="0"/>
              <a:t>Need of Automotive security :  Interesting information</a:t>
            </a:r>
          </a:p>
        </p:txBody>
      </p:sp>
      <p:pic>
        <p:nvPicPr>
          <p:cNvPr id="4" name="Picture 3" descr="Text, logo&#10;&#10;Description automatically generated">
            <a:extLst>
              <a:ext uri="{FF2B5EF4-FFF2-40B4-BE49-F238E27FC236}">
                <a16:creationId xmlns:a16="http://schemas.microsoft.com/office/drawing/2014/main" id="{C3B990E6-974D-3030-1956-C7F31DECD27B}"/>
              </a:ext>
            </a:extLst>
          </p:cNvPr>
          <p:cNvPicPr>
            <a:picLocks noChangeAspect="1"/>
          </p:cNvPicPr>
          <p:nvPr/>
        </p:nvPicPr>
        <p:blipFill>
          <a:blip r:embed="rId2">
            <a:alphaModFix amt="5000"/>
          </a:blip>
          <a:stretch>
            <a:fillRect/>
          </a:stretch>
        </p:blipFill>
        <p:spPr>
          <a:xfrm rot="20023087">
            <a:off x="1308908" y="1971389"/>
            <a:ext cx="10370342" cy="2125369"/>
          </a:xfrm>
          <a:prstGeom prst="rect">
            <a:avLst/>
          </a:prstGeom>
          <a:ln>
            <a:noFill/>
          </a:ln>
          <a:effectLst>
            <a:softEdge rad="112500"/>
          </a:effectLst>
        </p:spPr>
      </p:pic>
      <p:sp>
        <p:nvSpPr>
          <p:cNvPr id="15" name="TextBox 14">
            <a:extLst>
              <a:ext uri="{FF2B5EF4-FFF2-40B4-BE49-F238E27FC236}">
                <a16:creationId xmlns:a16="http://schemas.microsoft.com/office/drawing/2014/main" id="{D4D85358-73C3-3EFD-933E-47F20964D8F4}"/>
              </a:ext>
            </a:extLst>
          </p:cNvPr>
          <p:cNvSpPr txBox="1"/>
          <p:nvPr/>
        </p:nvSpPr>
        <p:spPr>
          <a:xfrm>
            <a:off x="1359175" y="1463719"/>
            <a:ext cx="9901860" cy="369332"/>
          </a:xfrm>
          <a:prstGeom prst="rect">
            <a:avLst/>
          </a:prstGeom>
          <a:effectLst>
            <a:glow rad="139700">
              <a:schemeClr val="accent4">
                <a:satMod val="175000"/>
                <a:alpha val="40000"/>
              </a:schemeClr>
            </a:glow>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t>The frequency of cyberattacks on cars increased 225 percent from 2018 to 2021.</a:t>
            </a:r>
          </a:p>
        </p:txBody>
      </p:sp>
      <p:sp>
        <p:nvSpPr>
          <p:cNvPr id="17" name="TextBox 16">
            <a:extLst>
              <a:ext uri="{FF2B5EF4-FFF2-40B4-BE49-F238E27FC236}">
                <a16:creationId xmlns:a16="http://schemas.microsoft.com/office/drawing/2014/main" id="{86E36A19-6BA5-C27F-1CC0-0D94143CFF63}"/>
              </a:ext>
            </a:extLst>
          </p:cNvPr>
          <p:cNvSpPr txBox="1"/>
          <p:nvPr/>
        </p:nvSpPr>
        <p:spPr>
          <a:xfrm>
            <a:off x="1379053" y="2143254"/>
            <a:ext cx="9872043" cy="646331"/>
          </a:xfrm>
          <a:prstGeom prst="rect">
            <a:avLst/>
          </a:prstGeom>
          <a:effectLst>
            <a:glow rad="139700">
              <a:schemeClr val="accent4">
                <a:satMod val="175000"/>
                <a:alpha val="40000"/>
              </a:schemeClr>
            </a:glow>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t>Nearly 85% of attacks in 2021 were carried out remotely, outnumbering physical attacks four to one.</a:t>
            </a:r>
            <a:endParaRPr lang="en-IN" dirty="0"/>
          </a:p>
        </p:txBody>
      </p:sp>
      <p:sp>
        <p:nvSpPr>
          <p:cNvPr id="18" name="TextBox 17">
            <a:extLst>
              <a:ext uri="{FF2B5EF4-FFF2-40B4-BE49-F238E27FC236}">
                <a16:creationId xmlns:a16="http://schemas.microsoft.com/office/drawing/2014/main" id="{02333928-0DA9-868B-170C-2BB647FD644F}"/>
              </a:ext>
            </a:extLst>
          </p:cNvPr>
          <p:cNvSpPr txBox="1"/>
          <p:nvPr/>
        </p:nvSpPr>
        <p:spPr>
          <a:xfrm>
            <a:off x="1369115" y="3165687"/>
            <a:ext cx="9901859" cy="646331"/>
          </a:xfrm>
          <a:prstGeom prst="rect">
            <a:avLst/>
          </a:prstGeom>
          <a:effectLst>
            <a:glow rad="139700">
              <a:schemeClr val="accent4">
                <a:satMod val="175000"/>
                <a:alpha val="40000"/>
              </a:schemeClr>
            </a:glow>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t>40% of attacks targeted back-end servers.</a:t>
            </a:r>
          </a:p>
          <a:p>
            <a:r>
              <a:rPr lang="en-US" dirty="0"/>
              <a:t>2021 saw 54.1% of attacks carried out by “Black Hat” (malicious) actors, up from 49.3% in 2020.</a:t>
            </a:r>
          </a:p>
        </p:txBody>
      </p:sp>
      <p:sp>
        <p:nvSpPr>
          <p:cNvPr id="19" name="TextBox 18">
            <a:extLst>
              <a:ext uri="{FF2B5EF4-FFF2-40B4-BE49-F238E27FC236}">
                <a16:creationId xmlns:a16="http://schemas.microsoft.com/office/drawing/2014/main" id="{4DE92002-48B0-997A-FAE8-4C6F5B2DA060}"/>
              </a:ext>
            </a:extLst>
          </p:cNvPr>
          <p:cNvSpPr txBox="1"/>
          <p:nvPr/>
        </p:nvSpPr>
        <p:spPr>
          <a:xfrm>
            <a:off x="1379054" y="4212320"/>
            <a:ext cx="9881982" cy="646331"/>
          </a:xfrm>
          <a:prstGeom prst="rect">
            <a:avLst/>
          </a:prstGeom>
          <a:effectLst>
            <a:glow rad="139700">
              <a:schemeClr val="accent4">
                <a:satMod val="175000"/>
                <a:alpha val="40000"/>
              </a:schemeClr>
            </a:glow>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t>The top attack categories were data/privacy breach (38%), car theft/break-ins (27%), and control systems (20%).</a:t>
            </a:r>
          </a:p>
        </p:txBody>
      </p:sp>
      <p:sp>
        <p:nvSpPr>
          <p:cNvPr id="21" name="TextBox 20">
            <a:extLst>
              <a:ext uri="{FF2B5EF4-FFF2-40B4-BE49-F238E27FC236}">
                <a16:creationId xmlns:a16="http://schemas.microsoft.com/office/drawing/2014/main" id="{013BF2BC-883D-6F45-772F-A1F976347E4F}"/>
              </a:ext>
            </a:extLst>
          </p:cNvPr>
          <p:cNvSpPr txBox="1"/>
          <p:nvPr/>
        </p:nvSpPr>
        <p:spPr>
          <a:xfrm>
            <a:off x="1398931" y="5273861"/>
            <a:ext cx="9862103" cy="646331"/>
          </a:xfrm>
          <a:prstGeom prst="rect">
            <a:avLst/>
          </a:prstGeom>
          <a:effectLst>
            <a:glow rad="139700">
              <a:schemeClr val="accent4">
                <a:satMod val="175000"/>
                <a:alpha val="40000"/>
              </a:schemeClr>
            </a:glow>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t>Keyless entry and key fob attacks account for 50% of all vehicle thefts. Thieves only need to be close to the key fob for a Black Hat hacker to pick up and reproduce its signal</a:t>
            </a:r>
            <a:endParaRPr lang="en-IN" dirty="0"/>
          </a:p>
        </p:txBody>
      </p:sp>
    </p:spTree>
    <p:extLst>
      <p:ext uri="{BB962C8B-B14F-4D97-AF65-F5344CB8AC3E}">
        <p14:creationId xmlns:p14="http://schemas.microsoft.com/office/powerpoint/2010/main" val="46533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
                                            <p:bg/>
                                          </p:spTgt>
                                        </p:tgtEl>
                                        <p:attrNameLst>
                                          <p:attrName>style.visibility</p:attrName>
                                        </p:attrNameLst>
                                      </p:cBhvr>
                                      <p:to>
                                        <p:strVal val="visible"/>
                                      </p:to>
                                    </p:set>
                                    <p:animEffect transition="in" filter="wipe(left)">
                                      <p:cBhvr>
                                        <p:cTn id="22" dur="500"/>
                                        <p:tgtEl>
                                          <p:spTgt spid="19">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Effect transition="in" filter="wipe(left)">
                                      <p:cBhvr>
                                        <p:cTn id="27" dur="500"/>
                                        <p:tgtEl>
                                          <p:spTgt spid="1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build="p"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A36400-D473-4C18-2227-F278DF1476EC}"/>
              </a:ext>
            </a:extLst>
          </p:cNvPr>
          <p:cNvSpPr txBox="1"/>
          <p:nvPr/>
        </p:nvSpPr>
        <p:spPr>
          <a:xfrm>
            <a:off x="3118403" y="919449"/>
            <a:ext cx="8232084" cy="1169551"/>
          </a:xfrm>
          <a:prstGeom prst="rect">
            <a:avLst/>
          </a:prstGeom>
          <a:noFill/>
        </p:spPr>
        <p:txBody>
          <a:bodyPr wrap="square">
            <a:spAutoFit/>
          </a:bodyPr>
          <a:lstStyle/>
          <a:p>
            <a:endParaRPr lang="en-IN" sz="1400" dirty="0">
              <a:ln w="0"/>
              <a:effectLst>
                <a:outerShdw blurRad="50800" dist="38100" dir="2700000" algn="tl" rotWithShape="0">
                  <a:prstClr val="black">
                    <a:alpha val="40000"/>
                  </a:prstClr>
                </a:outerShdw>
              </a:effectLst>
            </a:endParaRPr>
          </a:p>
          <a:p>
            <a:r>
              <a:rPr lang="en-IN" sz="1400" dirty="0">
                <a:ln w="0"/>
                <a:effectLst>
                  <a:outerShdw blurRad="50800" dist="38100" dir="2700000" algn="tl" rotWithShape="0">
                    <a:prstClr val="black">
                      <a:alpha val="40000"/>
                    </a:prstClr>
                  </a:outerShdw>
                </a:effectLst>
              </a:rPr>
              <a:t> (2002) VW, Audi, Porsche, Ford: 2002? Really?? If this started that far back, why did the national conversation wait another 15 years? These hackers, though, were actually being hired by aftermarket consumers to reprogram powertrain calibrations for more aggressive performance.</a:t>
            </a:r>
          </a:p>
          <a:p>
            <a:endParaRPr lang="en-IN" sz="1400" dirty="0">
              <a:ln w="0"/>
              <a:effectLst>
                <a:outerShdw blurRad="50800" dist="38100" dir="2700000" algn="tl" rotWithShape="0">
                  <a:prstClr val="black">
                    <a:alpha val="40000"/>
                  </a:prstClr>
                </a:outerShdw>
              </a:effectLst>
            </a:endParaRPr>
          </a:p>
        </p:txBody>
      </p:sp>
      <p:sp>
        <p:nvSpPr>
          <p:cNvPr id="4" name="TextBox 3">
            <a:extLst>
              <a:ext uri="{FF2B5EF4-FFF2-40B4-BE49-F238E27FC236}">
                <a16:creationId xmlns:a16="http://schemas.microsoft.com/office/drawing/2014/main" id="{53C9CE9C-5151-2F56-DFF3-2794C1931A0E}"/>
              </a:ext>
            </a:extLst>
          </p:cNvPr>
          <p:cNvSpPr txBox="1"/>
          <p:nvPr/>
        </p:nvSpPr>
        <p:spPr>
          <a:xfrm>
            <a:off x="1070942" y="403039"/>
            <a:ext cx="6097656" cy="369332"/>
          </a:xfrm>
          <a:prstGeom prst="rect">
            <a:avLst/>
          </a:prstGeom>
          <a:noFill/>
        </p:spPr>
        <p:txBody>
          <a:bodyPr wrap="square">
            <a:spAutoFit/>
          </a:bodyPr>
          <a:lstStyle>
            <a:defPPr>
              <a:defRPr lang="en-US"/>
            </a:defPPr>
          </a:lstStyle>
          <a:p>
            <a:r>
              <a:rPr lang="en-US" dirty="0"/>
              <a:t>Hacks you might be knowing</a:t>
            </a:r>
            <a:endParaRPr lang="en-IN" dirty="0"/>
          </a:p>
        </p:txBody>
      </p:sp>
      <p:sp>
        <p:nvSpPr>
          <p:cNvPr id="5" name="TextBox 4">
            <a:extLst>
              <a:ext uri="{FF2B5EF4-FFF2-40B4-BE49-F238E27FC236}">
                <a16:creationId xmlns:a16="http://schemas.microsoft.com/office/drawing/2014/main" id="{8F166DF1-69B7-A3F4-C77F-B6A87EE7DD10}"/>
              </a:ext>
            </a:extLst>
          </p:cNvPr>
          <p:cNvSpPr txBox="1"/>
          <p:nvPr/>
        </p:nvSpPr>
        <p:spPr>
          <a:xfrm>
            <a:off x="10472530" y="6581001"/>
            <a:ext cx="1719470" cy="276999"/>
          </a:xfrm>
          <a:prstGeom prst="rect">
            <a:avLst/>
          </a:prstGeom>
          <a:noFill/>
        </p:spPr>
        <p:txBody>
          <a:bodyPr wrap="square" rtlCol="0">
            <a:spAutoFit/>
          </a:bodyPr>
          <a:lstStyle/>
          <a:p>
            <a:r>
              <a:rPr lang="en-IN" sz="1200" b="1" dirty="0"/>
              <a:t>Courtesy : Forbes</a:t>
            </a:r>
          </a:p>
        </p:txBody>
      </p:sp>
      <p:pic>
        <p:nvPicPr>
          <p:cNvPr id="7" name="Picture 6">
            <a:extLst>
              <a:ext uri="{FF2B5EF4-FFF2-40B4-BE49-F238E27FC236}">
                <a16:creationId xmlns:a16="http://schemas.microsoft.com/office/drawing/2014/main" id="{CED65392-DE1B-A0C5-0F45-A3649D046C6E}"/>
              </a:ext>
            </a:extLst>
          </p:cNvPr>
          <p:cNvPicPr>
            <a:picLocks noChangeAspect="1"/>
          </p:cNvPicPr>
          <p:nvPr/>
        </p:nvPicPr>
        <p:blipFill>
          <a:blip r:embed="rId2"/>
          <a:stretch>
            <a:fillRect/>
          </a:stretch>
        </p:blipFill>
        <p:spPr>
          <a:xfrm>
            <a:off x="1308861" y="1015861"/>
            <a:ext cx="1653000" cy="873232"/>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23F06FD5-946B-8A14-D940-A61E2006E6D0}"/>
              </a:ext>
            </a:extLst>
          </p:cNvPr>
          <p:cNvSpPr txBox="1"/>
          <p:nvPr/>
        </p:nvSpPr>
        <p:spPr>
          <a:xfrm>
            <a:off x="3138281" y="2199002"/>
            <a:ext cx="8202267" cy="954107"/>
          </a:xfrm>
          <a:prstGeom prst="rect">
            <a:avLst/>
          </a:prstGeom>
          <a:noFill/>
        </p:spPr>
        <p:txBody>
          <a:bodyPr wrap="square">
            <a:spAutoFit/>
          </a:bodyPr>
          <a:lstStyle>
            <a:defPPr>
              <a:defRPr lang="en-US"/>
            </a:defPPr>
            <a:lvl1pPr>
              <a:defRPr sz="1200"/>
            </a:lvl1pPr>
          </a:lstStyle>
          <a:p>
            <a:endParaRPr lang="en-US" sz="1400" dirty="0">
              <a:ln w="0"/>
              <a:effectLst>
                <a:outerShdw blurRad="50800" dist="38100" dir="2700000" algn="tl" rotWithShape="0">
                  <a:prstClr val="black">
                    <a:alpha val="40000"/>
                  </a:prstClr>
                </a:outerShdw>
              </a:effectLst>
            </a:endParaRPr>
          </a:p>
          <a:p>
            <a:r>
              <a:rPr lang="en-US" sz="1400" dirty="0">
                <a:ln w="0"/>
                <a:effectLst>
                  <a:outerShdw blurRad="50800" dist="38100" dir="2700000" algn="tl" rotWithShape="0">
                    <a:prstClr val="black">
                      <a:alpha val="40000"/>
                    </a:prstClr>
                  </a:outerShdw>
                </a:effectLst>
              </a:rPr>
              <a:t> (2005) Chrysler, BMW, GM, Nissan: Thanks to a few Car Whisperers, Bluetooth could be hacked as you passed by, which allowed for listening to conversations or downloading contact information.</a:t>
            </a:r>
          </a:p>
          <a:p>
            <a:endParaRPr lang="en-US" sz="1400" dirty="0">
              <a:ln w="0"/>
              <a:effectLst>
                <a:outerShdw blurRad="50800" dist="38100" dir="2700000" algn="tl" rotWithShape="0">
                  <a:prstClr val="black">
                    <a:alpha val="40000"/>
                  </a:prstClr>
                </a:outerShdw>
              </a:effectLst>
            </a:endParaRPr>
          </a:p>
        </p:txBody>
      </p:sp>
      <p:pic>
        <p:nvPicPr>
          <p:cNvPr id="13" name="Picture 12">
            <a:extLst>
              <a:ext uri="{FF2B5EF4-FFF2-40B4-BE49-F238E27FC236}">
                <a16:creationId xmlns:a16="http://schemas.microsoft.com/office/drawing/2014/main" id="{F65D6CE6-2A63-E889-554A-E38C33E1F2D7}"/>
              </a:ext>
            </a:extLst>
          </p:cNvPr>
          <p:cNvPicPr>
            <a:picLocks noChangeAspect="1"/>
          </p:cNvPicPr>
          <p:nvPr/>
        </p:nvPicPr>
        <p:blipFill>
          <a:blip r:embed="rId3"/>
          <a:stretch>
            <a:fillRect/>
          </a:stretch>
        </p:blipFill>
        <p:spPr>
          <a:xfrm>
            <a:off x="1391480" y="2236305"/>
            <a:ext cx="1550504" cy="941378"/>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7EEF5F00-1D7B-B74F-681F-8870720C7F6C}"/>
              </a:ext>
            </a:extLst>
          </p:cNvPr>
          <p:cNvSpPr txBox="1"/>
          <p:nvPr/>
        </p:nvSpPr>
        <p:spPr>
          <a:xfrm>
            <a:off x="3118401" y="3397098"/>
            <a:ext cx="8142633" cy="954107"/>
          </a:xfrm>
          <a:prstGeom prst="rect">
            <a:avLst/>
          </a:prstGeom>
          <a:noFill/>
        </p:spPr>
        <p:txBody>
          <a:bodyPr wrap="square">
            <a:spAutoFit/>
          </a:bodyPr>
          <a:lstStyle>
            <a:defPPr>
              <a:defRPr lang="en-US"/>
            </a:defPPr>
            <a:lvl1pPr>
              <a:defRPr sz="1200"/>
            </a:lvl1pPr>
          </a:lstStyle>
          <a:p>
            <a:endParaRPr lang="en-US" sz="1400" dirty="0">
              <a:ln w="0"/>
              <a:effectLst>
                <a:outerShdw blurRad="50800" dist="38100" dir="2700000" algn="tl" rotWithShape="0">
                  <a:prstClr val="black">
                    <a:alpha val="40000"/>
                  </a:prstClr>
                </a:outerShdw>
              </a:effectLst>
            </a:endParaRPr>
          </a:p>
          <a:p>
            <a:r>
              <a:rPr lang="en-US" sz="1400" dirty="0">
                <a:ln w="0"/>
                <a:effectLst>
                  <a:outerShdw blurRad="50800" dist="38100" dir="2700000" algn="tl" rotWithShape="0">
                    <a:prstClr val="black">
                      <a:alpha val="40000"/>
                    </a:prstClr>
                  </a:outerShdw>
                </a:effectLst>
              </a:rPr>
              <a:t>(2010) General Motors: This is possibly the most interesting hack since GM was afforded five, quiet years to fix a vulnerability where a bad actor could have “…basically [had] complete control of the car except the steering.”</a:t>
            </a:r>
          </a:p>
        </p:txBody>
      </p:sp>
      <p:sp>
        <p:nvSpPr>
          <p:cNvPr id="17" name="TextBox 16">
            <a:extLst>
              <a:ext uri="{FF2B5EF4-FFF2-40B4-BE49-F238E27FC236}">
                <a16:creationId xmlns:a16="http://schemas.microsoft.com/office/drawing/2014/main" id="{A13D02A5-93A2-6267-2402-B3CDB0465D56}"/>
              </a:ext>
            </a:extLst>
          </p:cNvPr>
          <p:cNvSpPr txBox="1"/>
          <p:nvPr/>
        </p:nvSpPr>
        <p:spPr>
          <a:xfrm>
            <a:off x="3197915" y="4857066"/>
            <a:ext cx="7914033" cy="738664"/>
          </a:xfrm>
          <a:prstGeom prst="rect">
            <a:avLst/>
          </a:prstGeom>
          <a:noFill/>
        </p:spPr>
        <p:txBody>
          <a:bodyPr wrap="square">
            <a:spAutoFit/>
          </a:bodyPr>
          <a:lstStyle>
            <a:defPPr>
              <a:defRPr lang="en-US"/>
            </a:defPPr>
            <a:lvl1pPr>
              <a:defRPr sz="1200"/>
            </a:lvl1pPr>
          </a:lstStyle>
          <a:p>
            <a:r>
              <a:rPr lang="en-US" sz="1400" dirty="0">
                <a:ln w="0"/>
                <a:effectLst>
                  <a:outerShdw blurRad="50800" dist="38100" dir="2700000" algn="tl" rotWithShape="0">
                    <a:prstClr val="black">
                      <a:alpha val="40000"/>
                    </a:prstClr>
                  </a:outerShdw>
                </a:effectLst>
              </a:rPr>
              <a:t>(2013) Ford &amp; Toyota:  Our boys (Miller &amp; </a:t>
            </a:r>
            <a:r>
              <a:rPr lang="en-US" sz="1400" dirty="0" err="1">
                <a:ln w="0"/>
                <a:effectLst>
                  <a:outerShdw blurRad="50800" dist="38100" dir="2700000" algn="tl" rotWithShape="0">
                    <a:prstClr val="black">
                      <a:alpha val="40000"/>
                    </a:prstClr>
                  </a:outerShdw>
                </a:effectLst>
              </a:rPr>
              <a:t>Valasek</a:t>
            </a:r>
            <a:r>
              <a:rPr lang="en-US" sz="1400" dirty="0">
                <a:ln w="0"/>
                <a:effectLst>
                  <a:outerShdw blurRad="50800" dist="38100" dir="2700000" algn="tl" rotWithShape="0">
                    <a:prstClr val="black">
                      <a:alpha val="40000"/>
                    </a:prstClr>
                  </a:outerShdw>
                </a:effectLst>
              </a:rPr>
              <a:t>) engage Andy Greenberg (formerly of Forbes) for the first time, and take a Ford and Toyota for a ride. This one is wired to the vehicle – not wireless – and they show the ability to truly futz with the overall system. </a:t>
            </a:r>
            <a:endParaRPr lang="en-IN" sz="1400" dirty="0">
              <a:ln w="0"/>
              <a:effectLst>
                <a:outerShdw blurRad="50800" dist="38100" dir="2700000" algn="tl" rotWithShape="0">
                  <a:prstClr val="black">
                    <a:alpha val="40000"/>
                  </a:prstClr>
                </a:outerShdw>
              </a:effectLst>
            </a:endParaRPr>
          </a:p>
        </p:txBody>
      </p:sp>
      <p:sp>
        <p:nvSpPr>
          <p:cNvPr id="19" name="TextBox 18">
            <a:extLst>
              <a:ext uri="{FF2B5EF4-FFF2-40B4-BE49-F238E27FC236}">
                <a16:creationId xmlns:a16="http://schemas.microsoft.com/office/drawing/2014/main" id="{A5625772-1151-18C8-90C1-F0C028E3A162}"/>
              </a:ext>
            </a:extLst>
          </p:cNvPr>
          <p:cNvSpPr txBox="1"/>
          <p:nvPr/>
        </p:nvSpPr>
        <p:spPr>
          <a:xfrm>
            <a:off x="3178037" y="5939782"/>
            <a:ext cx="7933912" cy="523220"/>
          </a:xfrm>
          <a:prstGeom prst="rect">
            <a:avLst/>
          </a:prstGeom>
          <a:noFill/>
        </p:spPr>
        <p:txBody>
          <a:bodyPr wrap="square">
            <a:spAutoFit/>
          </a:bodyPr>
          <a:lstStyle>
            <a:defPPr>
              <a:defRPr lang="en-US"/>
            </a:defPPr>
            <a:lvl1pPr>
              <a:defRPr sz="1200"/>
            </a:lvl1pPr>
          </a:lstStyle>
          <a:p>
            <a:r>
              <a:rPr lang="en-US" sz="1400" dirty="0">
                <a:ln w="0"/>
                <a:effectLst>
                  <a:outerShdw blurRad="50800" dist="38100" dir="2700000" algn="tl" rotWithShape="0">
                    <a:prstClr val="black">
                      <a:alpha val="40000"/>
                    </a:prstClr>
                  </a:outerShdw>
                </a:effectLst>
              </a:rPr>
              <a:t>(2017) Hyundai: The Blue Link app contained a vulnerability where hackers could enter via insecure </a:t>
            </a:r>
            <a:r>
              <a:rPr lang="en-US" sz="1400" dirty="0" err="1">
                <a:ln w="0"/>
                <a:effectLst>
                  <a:outerShdw blurRad="50800" dist="38100" dir="2700000" algn="tl" rotWithShape="0">
                    <a:prstClr val="black">
                      <a:alpha val="40000"/>
                    </a:prstClr>
                  </a:outerShdw>
                </a:effectLst>
              </a:rPr>
              <a:t>Wifi</a:t>
            </a:r>
            <a:r>
              <a:rPr lang="en-US" sz="1400" dirty="0">
                <a:ln w="0"/>
                <a:effectLst>
                  <a:outerShdw blurRad="50800" dist="38100" dir="2700000" algn="tl" rotWithShape="0">
                    <a:prstClr val="black">
                      <a:alpha val="40000"/>
                    </a:prstClr>
                  </a:outerShdw>
                </a:effectLst>
              </a:rPr>
              <a:t> and obtain private user information and </a:t>
            </a:r>
            <a:r>
              <a:rPr lang="en-US" sz="1400" u="sng" dirty="0">
                <a:ln w="0"/>
                <a:effectLst>
                  <a:outerShdw blurRad="50800" dist="38100" dir="2700000" algn="tl" rotWithShape="0">
                    <a:prstClr val="black">
                      <a:alpha val="40000"/>
                    </a:prstClr>
                  </a:outerShdw>
                </a:effectLst>
              </a:rPr>
              <a:t>start cars remotely.</a:t>
            </a:r>
            <a:endParaRPr lang="en-IN" sz="1400" u="sng" dirty="0">
              <a:ln w="0"/>
              <a:effectLst>
                <a:outerShdw blurRad="50800" dist="38100" dir="2700000" algn="tl" rotWithShape="0">
                  <a:prstClr val="black">
                    <a:alpha val="40000"/>
                  </a:prstClr>
                </a:outerShdw>
              </a:effectLst>
            </a:endParaRPr>
          </a:p>
        </p:txBody>
      </p:sp>
      <p:pic>
        <p:nvPicPr>
          <p:cNvPr id="21" name="Picture 20">
            <a:extLst>
              <a:ext uri="{FF2B5EF4-FFF2-40B4-BE49-F238E27FC236}">
                <a16:creationId xmlns:a16="http://schemas.microsoft.com/office/drawing/2014/main" id="{83004174-8D39-ADEC-B9B9-B193B5358554}"/>
              </a:ext>
            </a:extLst>
          </p:cNvPr>
          <p:cNvPicPr>
            <a:picLocks noChangeAspect="1"/>
          </p:cNvPicPr>
          <p:nvPr/>
        </p:nvPicPr>
        <p:blipFill>
          <a:blip r:embed="rId4"/>
          <a:stretch>
            <a:fillRect/>
          </a:stretch>
        </p:blipFill>
        <p:spPr>
          <a:xfrm>
            <a:off x="1552990" y="3607904"/>
            <a:ext cx="1210089" cy="810867"/>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5A589798-FFDD-3902-9359-6219EBE7A2FC}"/>
              </a:ext>
            </a:extLst>
          </p:cNvPr>
          <p:cNvPicPr>
            <a:picLocks noChangeAspect="1"/>
          </p:cNvPicPr>
          <p:nvPr/>
        </p:nvPicPr>
        <p:blipFill>
          <a:blip r:embed="rId5"/>
          <a:stretch>
            <a:fillRect/>
          </a:stretch>
        </p:blipFill>
        <p:spPr>
          <a:xfrm>
            <a:off x="1431236" y="4850294"/>
            <a:ext cx="1441173" cy="725557"/>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04A1714D-EEDE-E030-7A4D-1A78615BF6D0}"/>
              </a:ext>
            </a:extLst>
          </p:cNvPr>
          <p:cNvPicPr>
            <a:picLocks noChangeAspect="1"/>
          </p:cNvPicPr>
          <p:nvPr/>
        </p:nvPicPr>
        <p:blipFill>
          <a:blip r:embed="rId6"/>
          <a:stretch>
            <a:fillRect/>
          </a:stretch>
        </p:blipFill>
        <p:spPr>
          <a:xfrm>
            <a:off x="1447469" y="5824331"/>
            <a:ext cx="1464695" cy="7354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64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5" grpId="0"/>
      <p:bldP spid="17"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5F0C2-EE1D-9154-E76D-E73AA2D8ADB0}"/>
              </a:ext>
            </a:extLst>
          </p:cNvPr>
          <p:cNvSpPr txBox="1"/>
          <p:nvPr/>
        </p:nvSpPr>
        <p:spPr>
          <a:xfrm>
            <a:off x="1201723" y="486454"/>
            <a:ext cx="6094602" cy="369332"/>
          </a:xfrm>
          <a:prstGeom prst="rect">
            <a:avLst/>
          </a:prstGeom>
          <a:noFill/>
        </p:spPr>
        <p:txBody>
          <a:bodyPr wrap="square">
            <a:spAutoFit/>
          </a:bodyPr>
          <a:lstStyle/>
          <a:p>
            <a:r>
              <a:rPr lang="en-US" dirty="0"/>
              <a:t>Need of standard bodies</a:t>
            </a:r>
            <a:endParaRPr lang="en-IN" dirty="0"/>
          </a:p>
        </p:txBody>
      </p:sp>
      <p:pic>
        <p:nvPicPr>
          <p:cNvPr id="6" name="Picture 5" descr="Text, logo&#10;&#10;Description automatically generated">
            <a:extLst>
              <a:ext uri="{FF2B5EF4-FFF2-40B4-BE49-F238E27FC236}">
                <a16:creationId xmlns:a16="http://schemas.microsoft.com/office/drawing/2014/main" id="{00A8F217-75A8-28EA-5A75-023FB9F12788}"/>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
        <p:nvSpPr>
          <p:cNvPr id="10" name="TextBox 9">
            <a:extLst>
              <a:ext uri="{FF2B5EF4-FFF2-40B4-BE49-F238E27FC236}">
                <a16:creationId xmlns:a16="http://schemas.microsoft.com/office/drawing/2014/main" id="{E8D1E44D-A314-3EDB-8C03-6E2B850F8361}"/>
              </a:ext>
            </a:extLst>
          </p:cNvPr>
          <p:cNvSpPr txBox="1"/>
          <p:nvPr/>
        </p:nvSpPr>
        <p:spPr>
          <a:xfrm>
            <a:off x="1001367" y="5308218"/>
            <a:ext cx="10478329" cy="1323439"/>
          </a:xfrm>
          <a:prstGeom prst="rect">
            <a:avLst/>
          </a:prstGeom>
          <a:noFill/>
        </p:spPr>
        <p:txBody>
          <a:bodyPr wrap="square">
            <a:spAutoFit/>
          </a:bodyPr>
          <a:lstStyle/>
          <a:p>
            <a:pPr algn="l"/>
            <a:r>
              <a:rPr lang="en-US" sz="1600" b="0" i="0" u="none" strike="noStrike" baseline="0" dirty="0">
                <a:solidFill>
                  <a:srgbClr val="FFFFFF"/>
                </a:solidFill>
                <a:latin typeface="HelveticaNeueLTCom-Roman"/>
              </a:rPr>
              <a:t>As shown in several publications, the number of attack vectors in connected cars and the automotive industry is significant. As more cybersecurity gaps are left open and unresolved, a sizable number of openings are left vulnerable for abuse. With the increasing call for the introduction and enforcement of cybersecurity standards for the industry, the combined ISO and SAE task force drafted and introduced </a:t>
            </a:r>
            <a:r>
              <a:rPr lang="en-US" sz="1600" b="1" i="0" u="none" strike="noStrike" baseline="0" dirty="0">
                <a:solidFill>
                  <a:srgbClr val="FFFFFF"/>
                </a:solidFill>
                <a:latin typeface="HelveticaNeueLTCom-Roman"/>
              </a:rPr>
              <a:t>ISO/SAE 21434</a:t>
            </a:r>
            <a:r>
              <a:rPr lang="en-US" sz="1600" b="0" i="0" u="none" strike="noStrike" baseline="0" dirty="0">
                <a:solidFill>
                  <a:srgbClr val="FFFFFF"/>
                </a:solidFill>
                <a:latin typeface="HelveticaNeueLTCom-Roman"/>
              </a:rPr>
              <a:t>, a set of guidelines for securing high-level processes in connected cars.</a:t>
            </a:r>
            <a:endParaRPr lang="en-IN" sz="1600" dirty="0"/>
          </a:p>
        </p:txBody>
      </p:sp>
      <p:pic>
        <p:nvPicPr>
          <p:cNvPr id="12" name="Picture 11">
            <a:extLst>
              <a:ext uri="{FF2B5EF4-FFF2-40B4-BE49-F238E27FC236}">
                <a16:creationId xmlns:a16="http://schemas.microsoft.com/office/drawing/2014/main" id="{45B5839E-5785-4B13-0391-F2D63F495EC8}"/>
              </a:ext>
            </a:extLst>
          </p:cNvPr>
          <p:cNvPicPr>
            <a:picLocks noChangeAspect="1"/>
          </p:cNvPicPr>
          <p:nvPr/>
        </p:nvPicPr>
        <p:blipFill>
          <a:blip r:embed="rId3"/>
          <a:stretch>
            <a:fillRect/>
          </a:stretch>
        </p:blipFill>
        <p:spPr>
          <a:xfrm>
            <a:off x="6400801" y="1053548"/>
            <a:ext cx="5009322" cy="4025347"/>
          </a:xfrm>
          <a:prstGeom prst="rect">
            <a:avLst/>
          </a:prstGeom>
        </p:spPr>
      </p:pic>
      <p:pic>
        <p:nvPicPr>
          <p:cNvPr id="14" name="Picture 13">
            <a:extLst>
              <a:ext uri="{FF2B5EF4-FFF2-40B4-BE49-F238E27FC236}">
                <a16:creationId xmlns:a16="http://schemas.microsoft.com/office/drawing/2014/main" id="{BFA753C1-3657-00BF-3D4B-3FACFB86E022}"/>
              </a:ext>
            </a:extLst>
          </p:cNvPr>
          <p:cNvPicPr>
            <a:picLocks noChangeAspect="1"/>
          </p:cNvPicPr>
          <p:nvPr/>
        </p:nvPicPr>
        <p:blipFill>
          <a:blip r:embed="rId4"/>
          <a:stretch>
            <a:fillRect/>
          </a:stretch>
        </p:blipFill>
        <p:spPr>
          <a:xfrm>
            <a:off x="1107766" y="1023732"/>
            <a:ext cx="5322851" cy="4052680"/>
          </a:xfrm>
          <a:prstGeom prst="rect">
            <a:avLst/>
          </a:prstGeom>
        </p:spPr>
      </p:pic>
    </p:spTree>
    <p:extLst>
      <p:ext uri="{BB962C8B-B14F-4D97-AF65-F5344CB8AC3E}">
        <p14:creationId xmlns:p14="http://schemas.microsoft.com/office/powerpoint/2010/main" val="1408677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5F0C2-EE1D-9154-E76D-E73AA2D8ADB0}"/>
              </a:ext>
            </a:extLst>
          </p:cNvPr>
          <p:cNvSpPr txBox="1"/>
          <p:nvPr/>
        </p:nvSpPr>
        <p:spPr>
          <a:xfrm>
            <a:off x="1201723" y="486454"/>
            <a:ext cx="6094602" cy="646331"/>
          </a:xfrm>
          <a:prstGeom prst="rect">
            <a:avLst/>
          </a:prstGeom>
          <a:noFill/>
        </p:spPr>
        <p:txBody>
          <a:bodyPr wrap="square">
            <a:spAutoFit/>
          </a:bodyPr>
          <a:lstStyle/>
          <a:p>
            <a:r>
              <a:rPr lang="en-IN" sz="1800" dirty="0"/>
              <a:t>Automotive cyber security standards : ISO 21343</a:t>
            </a:r>
            <a:endParaRPr lang="en-IN" dirty="0"/>
          </a:p>
          <a:p>
            <a:r>
              <a:rPr lang="en-IN" sz="1800" dirty="0"/>
              <a:t> </a:t>
            </a:r>
            <a:endParaRPr lang="en-IN" dirty="0"/>
          </a:p>
        </p:txBody>
      </p:sp>
      <p:pic>
        <p:nvPicPr>
          <p:cNvPr id="4" name="Picture 3" descr="Text, logo&#10;&#10;Description automatically generated">
            <a:extLst>
              <a:ext uri="{FF2B5EF4-FFF2-40B4-BE49-F238E27FC236}">
                <a16:creationId xmlns:a16="http://schemas.microsoft.com/office/drawing/2014/main" id="{B5283502-B58E-1B78-50B6-C2767582D851}"/>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
        <p:nvSpPr>
          <p:cNvPr id="8" name="TextBox 7">
            <a:extLst>
              <a:ext uri="{FF2B5EF4-FFF2-40B4-BE49-F238E27FC236}">
                <a16:creationId xmlns:a16="http://schemas.microsoft.com/office/drawing/2014/main" id="{FDC20429-F391-C26F-6693-126F85722785}"/>
              </a:ext>
            </a:extLst>
          </p:cNvPr>
          <p:cNvSpPr txBox="1"/>
          <p:nvPr/>
        </p:nvSpPr>
        <p:spPr>
          <a:xfrm>
            <a:off x="1140514" y="1545038"/>
            <a:ext cx="10219911" cy="4524315"/>
          </a:xfrm>
          <a:prstGeom prst="rect">
            <a:avLst/>
          </a:prstGeom>
          <a:noFill/>
        </p:spPr>
        <p:txBody>
          <a:bodyPr wrap="square">
            <a:spAutoFit/>
          </a:bodyPr>
          <a:lstStyle/>
          <a:p>
            <a:r>
              <a:rPr lang="en-US" dirty="0"/>
              <a:t>ISO 21434 provides a guideline for ensuring the cybersecurity of road vehicle electronic systems. It was developed to ensure that OEMs and suppliers take cybersecurity into account at every step of the product lifecycle, from the concept phase all the way to retirement. To expand on that, ISO 21434 provides the terminology, objectives, requirements, and guidelines that organizations need in order to:</a:t>
            </a:r>
          </a:p>
          <a:p>
            <a:endParaRPr lang="en-US" dirty="0"/>
          </a:p>
          <a:p>
            <a:pPr marL="285750" indent="-285750">
              <a:buFont typeface="Wingdings" panose="05000000000000000000" pitchFamily="2" charset="2"/>
              <a:buChar char="Ø"/>
            </a:pPr>
            <a:r>
              <a:rPr lang="en-US" dirty="0"/>
              <a:t>Define cybersecurity policies and processes</a:t>
            </a:r>
          </a:p>
          <a:p>
            <a:pPr marL="285750" indent="-285750">
              <a:buFont typeface="Wingdings" panose="05000000000000000000" pitchFamily="2" charset="2"/>
              <a:buChar char="Ø"/>
            </a:pPr>
            <a:r>
              <a:rPr lang="en-US" dirty="0"/>
              <a:t>Analyze, identify, and manage cybersecurity risks</a:t>
            </a:r>
          </a:p>
          <a:p>
            <a:pPr marL="285750" indent="-285750">
              <a:buFont typeface="Wingdings" panose="05000000000000000000" pitchFamily="2" charset="2"/>
              <a:buChar char="Ø"/>
            </a:pPr>
            <a:r>
              <a:rPr lang="en-US" dirty="0"/>
              <a:t>Champion a ‘security by design’ or cybersecurity culture within the organization</a:t>
            </a:r>
          </a:p>
          <a:p>
            <a:pPr marL="285750" indent="-285750">
              <a:buFont typeface="Wingdings" panose="05000000000000000000" pitchFamily="2" charset="2"/>
              <a:buChar char="Ø"/>
            </a:pPr>
            <a:endParaRPr lang="en-US" dirty="0"/>
          </a:p>
          <a:p>
            <a:endParaRPr lang="en-US" dirty="0"/>
          </a:p>
          <a:p>
            <a:r>
              <a:rPr lang="en-US" dirty="0"/>
              <a:t>ISO 21434 applies to all the software included in vehicles as well as electronic systems and components, and last but not least, the hardware as well. The overall goal of the standard is to provide a comprehensive guideline for automotive developers which will help them cover cybersecurity topics throughout the whole development lifecycle, and make sure that the entire supplier chain is covered, too.</a:t>
            </a:r>
            <a:endParaRPr lang="en-IN" dirty="0"/>
          </a:p>
        </p:txBody>
      </p:sp>
    </p:spTree>
    <p:extLst>
      <p:ext uri="{BB962C8B-B14F-4D97-AF65-F5344CB8AC3E}">
        <p14:creationId xmlns:p14="http://schemas.microsoft.com/office/powerpoint/2010/main" val="740303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5F0C2-EE1D-9154-E76D-E73AA2D8ADB0}"/>
              </a:ext>
            </a:extLst>
          </p:cNvPr>
          <p:cNvSpPr txBox="1"/>
          <p:nvPr/>
        </p:nvSpPr>
        <p:spPr>
          <a:xfrm>
            <a:off x="1201722" y="486454"/>
            <a:ext cx="7892581" cy="369332"/>
          </a:xfrm>
          <a:prstGeom prst="rect">
            <a:avLst/>
          </a:prstGeom>
          <a:noFill/>
        </p:spPr>
        <p:txBody>
          <a:bodyPr wrap="square">
            <a:spAutoFit/>
          </a:bodyPr>
          <a:lstStyle/>
          <a:p>
            <a:r>
              <a:rPr lang="en-IN" sz="1800" dirty="0"/>
              <a:t>Automotive cyber security standards : Key elements in ISO 21434</a:t>
            </a:r>
            <a:endParaRPr lang="en-IN" dirty="0"/>
          </a:p>
        </p:txBody>
      </p:sp>
      <p:pic>
        <p:nvPicPr>
          <p:cNvPr id="4" name="Picture 3" descr="Text, logo&#10;&#10;Description automatically generated">
            <a:extLst>
              <a:ext uri="{FF2B5EF4-FFF2-40B4-BE49-F238E27FC236}">
                <a16:creationId xmlns:a16="http://schemas.microsoft.com/office/drawing/2014/main" id="{A0267563-C21A-1E1B-F79B-65528EE1338F}"/>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pic>
        <p:nvPicPr>
          <p:cNvPr id="6" name="Picture 5">
            <a:extLst>
              <a:ext uri="{FF2B5EF4-FFF2-40B4-BE49-F238E27FC236}">
                <a16:creationId xmlns:a16="http://schemas.microsoft.com/office/drawing/2014/main" id="{620899F6-07EC-B767-B2CF-BF3F8FFE1ED6}"/>
              </a:ext>
            </a:extLst>
          </p:cNvPr>
          <p:cNvPicPr>
            <a:picLocks noChangeAspect="1"/>
          </p:cNvPicPr>
          <p:nvPr/>
        </p:nvPicPr>
        <p:blipFill rotWithShape="1">
          <a:blip r:embed="rId3"/>
          <a:srcRect t="12319"/>
          <a:stretch/>
        </p:blipFill>
        <p:spPr>
          <a:xfrm>
            <a:off x="4927663" y="1013791"/>
            <a:ext cx="7178198" cy="5844209"/>
          </a:xfrm>
          <a:prstGeom prst="rect">
            <a:avLst/>
          </a:prstGeom>
        </p:spPr>
      </p:pic>
      <p:sp>
        <p:nvSpPr>
          <p:cNvPr id="7" name="TextBox 6">
            <a:extLst>
              <a:ext uri="{FF2B5EF4-FFF2-40B4-BE49-F238E27FC236}">
                <a16:creationId xmlns:a16="http://schemas.microsoft.com/office/drawing/2014/main" id="{652B90B6-76BC-9F39-D5DC-172F01302EC7}"/>
              </a:ext>
            </a:extLst>
          </p:cNvPr>
          <p:cNvSpPr txBox="1"/>
          <p:nvPr/>
        </p:nvSpPr>
        <p:spPr>
          <a:xfrm>
            <a:off x="1222514" y="1152939"/>
            <a:ext cx="3627782" cy="646331"/>
          </a:xfrm>
          <a:prstGeom prst="rect">
            <a:avLst/>
          </a:prstGeom>
          <a:noFill/>
        </p:spPr>
        <p:txBody>
          <a:bodyPr wrap="square" rtlCol="0">
            <a:spAutoFit/>
          </a:bodyPr>
          <a:lstStyle/>
          <a:p>
            <a:pPr marL="342900" indent="-342900">
              <a:buFont typeface="Wingdings" panose="05000000000000000000" pitchFamily="2" charset="2"/>
              <a:buChar char="v"/>
            </a:pPr>
            <a:r>
              <a:rPr lang="en-IN" dirty="0"/>
              <a:t>Implementing Cyber security in the management culture</a:t>
            </a:r>
          </a:p>
        </p:txBody>
      </p:sp>
      <p:sp>
        <p:nvSpPr>
          <p:cNvPr id="8" name="TextBox 7">
            <a:extLst>
              <a:ext uri="{FF2B5EF4-FFF2-40B4-BE49-F238E27FC236}">
                <a16:creationId xmlns:a16="http://schemas.microsoft.com/office/drawing/2014/main" id="{52A7637F-5EB6-0C6B-4590-03D560C8CB1A}"/>
              </a:ext>
            </a:extLst>
          </p:cNvPr>
          <p:cNvSpPr txBox="1"/>
          <p:nvPr/>
        </p:nvSpPr>
        <p:spPr>
          <a:xfrm>
            <a:off x="1166192" y="2001078"/>
            <a:ext cx="3627782" cy="646331"/>
          </a:xfrm>
          <a:prstGeom prst="rect">
            <a:avLst/>
          </a:prstGeom>
          <a:noFill/>
        </p:spPr>
        <p:txBody>
          <a:bodyPr wrap="square" rtlCol="0">
            <a:spAutoFit/>
          </a:bodyPr>
          <a:lstStyle/>
          <a:p>
            <a:pPr marL="342900" indent="-342900">
              <a:buFont typeface="Wingdings" panose="05000000000000000000" pitchFamily="2" charset="2"/>
              <a:buChar char="v"/>
            </a:pPr>
            <a:r>
              <a:rPr lang="en-IN" dirty="0"/>
              <a:t>Define cybersecurity actions at Project planning</a:t>
            </a:r>
          </a:p>
        </p:txBody>
      </p:sp>
      <p:sp>
        <p:nvSpPr>
          <p:cNvPr id="9" name="TextBox 8">
            <a:extLst>
              <a:ext uri="{FF2B5EF4-FFF2-40B4-BE49-F238E27FC236}">
                <a16:creationId xmlns:a16="http://schemas.microsoft.com/office/drawing/2014/main" id="{2939FCFF-C2D0-0C9C-14E9-B11E1355B470}"/>
              </a:ext>
            </a:extLst>
          </p:cNvPr>
          <p:cNvSpPr txBox="1"/>
          <p:nvPr/>
        </p:nvSpPr>
        <p:spPr>
          <a:xfrm>
            <a:off x="1169505" y="2819400"/>
            <a:ext cx="3627782" cy="646331"/>
          </a:xfrm>
          <a:prstGeom prst="rect">
            <a:avLst/>
          </a:prstGeom>
          <a:noFill/>
        </p:spPr>
        <p:txBody>
          <a:bodyPr wrap="square" rtlCol="0">
            <a:spAutoFit/>
          </a:bodyPr>
          <a:lstStyle/>
          <a:p>
            <a:pPr marL="342900" indent="-342900">
              <a:buFont typeface="Wingdings" panose="05000000000000000000" pitchFamily="2" charset="2"/>
              <a:buChar char="v"/>
            </a:pPr>
            <a:r>
              <a:rPr lang="en-IN" dirty="0"/>
              <a:t>Cybersecurity control and Monitoring</a:t>
            </a:r>
          </a:p>
        </p:txBody>
      </p:sp>
      <p:sp>
        <p:nvSpPr>
          <p:cNvPr id="10" name="TextBox 9">
            <a:extLst>
              <a:ext uri="{FF2B5EF4-FFF2-40B4-BE49-F238E27FC236}">
                <a16:creationId xmlns:a16="http://schemas.microsoft.com/office/drawing/2014/main" id="{9D7025CD-C744-E661-FAE9-E887E0E456E9}"/>
              </a:ext>
            </a:extLst>
          </p:cNvPr>
          <p:cNvSpPr txBox="1"/>
          <p:nvPr/>
        </p:nvSpPr>
        <p:spPr>
          <a:xfrm>
            <a:off x="1202635" y="3697357"/>
            <a:ext cx="3627782" cy="369332"/>
          </a:xfrm>
          <a:prstGeom prst="rect">
            <a:avLst/>
          </a:prstGeom>
          <a:noFill/>
        </p:spPr>
        <p:txBody>
          <a:bodyPr wrap="square" rtlCol="0">
            <a:spAutoFit/>
          </a:bodyPr>
          <a:lstStyle/>
          <a:p>
            <a:pPr marL="342900" indent="-342900">
              <a:buFont typeface="Wingdings" panose="05000000000000000000" pitchFamily="2" charset="2"/>
              <a:buChar char="v"/>
            </a:pPr>
            <a:r>
              <a:rPr lang="en-IN" dirty="0"/>
              <a:t>Risk Assessment in detail</a:t>
            </a:r>
          </a:p>
        </p:txBody>
      </p:sp>
      <p:sp>
        <p:nvSpPr>
          <p:cNvPr id="11" name="TextBox 10">
            <a:extLst>
              <a:ext uri="{FF2B5EF4-FFF2-40B4-BE49-F238E27FC236}">
                <a16:creationId xmlns:a16="http://schemas.microsoft.com/office/drawing/2014/main" id="{3ED2FFCC-7D56-0890-076F-38816503C5F7}"/>
              </a:ext>
            </a:extLst>
          </p:cNvPr>
          <p:cNvSpPr txBox="1"/>
          <p:nvPr/>
        </p:nvSpPr>
        <p:spPr>
          <a:xfrm>
            <a:off x="1126435" y="4465983"/>
            <a:ext cx="3627782" cy="923330"/>
          </a:xfrm>
          <a:prstGeom prst="rect">
            <a:avLst/>
          </a:prstGeom>
          <a:noFill/>
        </p:spPr>
        <p:txBody>
          <a:bodyPr wrap="square" rtlCol="0">
            <a:spAutoFit/>
          </a:bodyPr>
          <a:lstStyle/>
          <a:p>
            <a:pPr marL="342900" indent="-342900">
              <a:buFont typeface="Wingdings" panose="05000000000000000000" pitchFamily="2" charset="2"/>
              <a:buChar char="v"/>
            </a:pPr>
            <a:r>
              <a:rPr lang="en-IN" dirty="0"/>
              <a:t>Cyber security implementation in product development, serial life</a:t>
            </a:r>
          </a:p>
        </p:txBody>
      </p:sp>
      <p:sp>
        <p:nvSpPr>
          <p:cNvPr id="12" name="TextBox 11">
            <a:extLst>
              <a:ext uri="{FF2B5EF4-FFF2-40B4-BE49-F238E27FC236}">
                <a16:creationId xmlns:a16="http://schemas.microsoft.com/office/drawing/2014/main" id="{69D62330-3A3D-BCB3-83B4-DE53D41061F0}"/>
              </a:ext>
            </a:extLst>
          </p:cNvPr>
          <p:cNvSpPr txBox="1"/>
          <p:nvPr/>
        </p:nvSpPr>
        <p:spPr>
          <a:xfrm>
            <a:off x="1159566" y="5443331"/>
            <a:ext cx="3627782" cy="369332"/>
          </a:xfrm>
          <a:prstGeom prst="rect">
            <a:avLst/>
          </a:prstGeom>
          <a:noFill/>
        </p:spPr>
        <p:txBody>
          <a:bodyPr wrap="square" rtlCol="0">
            <a:spAutoFit/>
          </a:bodyPr>
          <a:lstStyle/>
          <a:p>
            <a:pPr marL="342900" indent="-342900">
              <a:buFont typeface="Wingdings" panose="05000000000000000000" pitchFamily="2" charset="2"/>
              <a:buChar char="v"/>
            </a:pPr>
            <a:r>
              <a:rPr lang="en-IN" dirty="0"/>
              <a:t>Cyber security testing </a:t>
            </a:r>
          </a:p>
        </p:txBody>
      </p:sp>
      <p:sp>
        <p:nvSpPr>
          <p:cNvPr id="13" name="TextBox 12">
            <a:extLst>
              <a:ext uri="{FF2B5EF4-FFF2-40B4-BE49-F238E27FC236}">
                <a16:creationId xmlns:a16="http://schemas.microsoft.com/office/drawing/2014/main" id="{C0F69FC9-5E3C-3415-4892-1D73F195D644}"/>
              </a:ext>
            </a:extLst>
          </p:cNvPr>
          <p:cNvSpPr txBox="1"/>
          <p:nvPr/>
        </p:nvSpPr>
        <p:spPr>
          <a:xfrm>
            <a:off x="1182756" y="6102627"/>
            <a:ext cx="3627782" cy="369332"/>
          </a:xfrm>
          <a:prstGeom prst="rect">
            <a:avLst/>
          </a:prstGeom>
          <a:noFill/>
        </p:spPr>
        <p:txBody>
          <a:bodyPr wrap="square" rtlCol="0">
            <a:spAutoFit/>
          </a:bodyPr>
          <a:lstStyle/>
          <a:p>
            <a:pPr marL="342900" indent="-342900">
              <a:buFont typeface="Wingdings" panose="05000000000000000000" pitchFamily="2" charset="2"/>
              <a:buChar char="v"/>
            </a:pPr>
            <a:r>
              <a:rPr lang="en-IN" dirty="0"/>
              <a:t>Cyber security in lifecycle</a:t>
            </a:r>
          </a:p>
        </p:txBody>
      </p:sp>
      <p:sp>
        <p:nvSpPr>
          <p:cNvPr id="14" name="Rectangle 13">
            <a:extLst>
              <a:ext uri="{FF2B5EF4-FFF2-40B4-BE49-F238E27FC236}">
                <a16:creationId xmlns:a16="http://schemas.microsoft.com/office/drawing/2014/main" id="{0E813DCA-6461-B041-7816-D8D4C9390532}"/>
              </a:ext>
            </a:extLst>
          </p:cNvPr>
          <p:cNvSpPr/>
          <p:nvPr/>
        </p:nvSpPr>
        <p:spPr>
          <a:xfrm>
            <a:off x="4969565" y="1023731"/>
            <a:ext cx="7017026" cy="824948"/>
          </a:xfrm>
          <a:prstGeom prst="rect">
            <a:avLst/>
          </a:prstGeom>
          <a:noFill/>
          <a:ln>
            <a:solidFill>
              <a:schemeClr val="bg1">
                <a:lumMod val="65000"/>
                <a:lumOff val="35000"/>
              </a:schemeClr>
            </a:solidFill>
          </a:ln>
          <a:effectLst>
            <a:glow rad="139700">
              <a:schemeClr val="accent4">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E2AA0391-247A-24FF-2AFE-23EA49792F6C}"/>
              </a:ext>
            </a:extLst>
          </p:cNvPr>
          <p:cNvSpPr/>
          <p:nvPr/>
        </p:nvSpPr>
        <p:spPr>
          <a:xfrm>
            <a:off x="4992758" y="1888435"/>
            <a:ext cx="7017026" cy="858081"/>
          </a:xfrm>
          <a:prstGeom prst="rect">
            <a:avLst/>
          </a:prstGeom>
          <a:noFill/>
          <a:ln>
            <a:solidFill>
              <a:schemeClr val="bg1">
                <a:lumMod val="65000"/>
                <a:lumOff val="35000"/>
              </a:schemeClr>
            </a:solidFill>
          </a:ln>
          <a:effectLst>
            <a:glow rad="139700">
              <a:schemeClr val="accent4">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BC2A5BF7-52F4-C1C7-44A7-06BCA7589654}"/>
              </a:ext>
            </a:extLst>
          </p:cNvPr>
          <p:cNvSpPr/>
          <p:nvPr/>
        </p:nvSpPr>
        <p:spPr>
          <a:xfrm>
            <a:off x="5015949" y="2746513"/>
            <a:ext cx="7017026" cy="771939"/>
          </a:xfrm>
          <a:prstGeom prst="rect">
            <a:avLst/>
          </a:prstGeom>
          <a:noFill/>
          <a:ln>
            <a:solidFill>
              <a:schemeClr val="bg1">
                <a:lumMod val="65000"/>
                <a:lumOff val="35000"/>
              </a:schemeClr>
            </a:solidFill>
          </a:ln>
          <a:effectLst>
            <a:glow rad="139700">
              <a:schemeClr val="accent4">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BD0A6397-258E-099A-C23B-2178D484841C}"/>
              </a:ext>
            </a:extLst>
          </p:cNvPr>
          <p:cNvSpPr/>
          <p:nvPr/>
        </p:nvSpPr>
        <p:spPr>
          <a:xfrm>
            <a:off x="5029201" y="3525078"/>
            <a:ext cx="7017026" cy="771939"/>
          </a:xfrm>
          <a:prstGeom prst="rect">
            <a:avLst/>
          </a:prstGeom>
          <a:noFill/>
          <a:ln>
            <a:solidFill>
              <a:schemeClr val="bg1">
                <a:lumMod val="65000"/>
                <a:lumOff val="35000"/>
              </a:schemeClr>
            </a:solidFill>
          </a:ln>
          <a:effectLst>
            <a:glow rad="139700">
              <a:schemeClr val="accent4">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4EE48FB0-5E0D-C9D6-1CF0-95A875DF19C2}"/>
              </a:ext>
            </a:extLst>
          </p:cNvPr>
          <p:cNvSpPr/>
          <p:nvPr/>
        </p:nvSpPr>
        <p:spPr>
          <a:xfrm>
            <a:off x="5032514" y="4343399"/>
            <a:ext cx="3803373" cy="1550505"/>
          </a:xfrm>
          <a:prstGeom prst="rect">
            <a:avLst/>
          </a:prstGeom>
          <a:noFill/>
          <a:ln>
            <a:solidFill>
              <a:schemeClr val="bg1">
                <a:lumMod val="65000"/>
                <a:lumOff val="35000"/>
              </a:schemeClr>
            </a:solidFill>
          </a:ln>
          <a:effectLst>
            <a:glow rad="139700">
              <a:schemeClr val="accent4">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570B954F-9C80-4880-8326-602938F2F691}"/>
              </a:ext>
            </a:extLst>
          </p:cNvPr>
          <p:cNvSpPr/>
          <p:nvPr/>
        </p:nvSpPr>
        <p:spPr>
          <a:xfrm>
            <a:off x="8872331" y="4346713"/>
            <a:ext cx="1205947" cy="1547192"/>
          </a:xfrm>
          <a:prstGeom prst="rect">
            <a:avLst/>
          </a:prstGeom>
          <a:noFill/>
          <a:ln>
            <a:solidFill>
              <a:schemeClr val="bg1">
                <a:lumMod val="65000"/>
                <a:lumOff val="35000"/>
              </a:schemeClr>
            </a:solidFill>
          </a:ln>
          <a:effectLst>
            <a:glow rad="139700">
              <a:schemeClr val="accent4">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E8AA607F-1190-797B-A081-ACA56A2729F7}"/>
              </a:ext>
            </a:extLst>
          </p:cNvPr>
          <p:cNvSpPr/>
          <p:nvPr/>
        </p:nvSpPr>
        <p:spPr>
          <a:xfrm>
            <a:off x="10137914" y="4310270"/>
            <a:ext cx="1888434" cy="1547192"/>
          </a:xfrm>
          <a:prstGeom prst="rect">
            <a:avLst/>
          </a:prstGeom>
          <a:noFill/>
          <a:ln>
            <a:solidFill>
              <a:schemeClr val="bg1">
                <a:lumMod val="65000"/>
                <a:lumOff val="35000"/>
              </a:schemeClr>
            </a:solidFill>
          </a:ln>
          <a:effectLst>
            <a:glow rad="139700">
              <a:schemeClr val="accent4">
                <a:satMod val="175000"/>
                <a:alpha val="40000"/>
              </a:schemeClr>
            </a:glow>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7343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500"/>
                                        <p:tgtEl>
                                          <p:spTgt spid="1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left)">
                                      <p:cBhvr>
                                        <p:cTn id="67" dur="500"/>
                                        <p:tgtEl>
                                          <p:spTgt spid="12"/>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500"/>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2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wipe(left)">
                                      <p:cBhvr>
                                        <p:cTn id="79" dur="500"/>
                                        <p:tgtEl>
                                          <p:spTgt spid="13"/>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left)">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animBg="1"/>
      <p:bldP spid="14"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5F0C2-EE1D-9154-E76D-E73AA2D8ADB0}"/>
              </a:ext>
            </a:extLst>
          </p:cNvPr>
          <p:cNvSpPr txBox="1"/>
          <p:nvPr/>
        </p:nvSpPr>
        <p:spPr>
          <a:xfrm>
            <a:off x="1201722" y="486454"/>
            <a:ext cx="7892581" cy="369332"/>
          </a:xfrm>
          <a:prstGeom prst="rect">
            <a:avLst/>
          </a:prstGeom>
          <a:noFill/>
        </p:spPr>
        <p:txBody>
          <a:bodyPr wrap="square">
            <a:spAutoFit/>
          </a:bodyPr>
          <a:lstStyle/>
          <a:p>
            <a:r>
              <a:rPr lang="en-IN" sz="1800" dirty="0"/>
              <a:t>Automotive cyber security standards : TARA</a:t>
            </a:r>
            <a:endParaRPr lang="en-IN" dirty="0"/>
          </a:p>
        </p:txBody>
      </p:sp>
      <p:pic>
        <p:nvPicPr>
          <p:cNvPr id="4" name="Picture 3" descr="Text, logo&#10;&#10;Description automatically generated">
            <a:extLst>
              <a:ext uri="{FF2B5EF4-FFF2-40B4-BE49-F238E27FC236}">
                <a16:creationId xmlns:a16="http://schemas.microsoft.com/office/drawing/2014/main" id="{A0267563-C21A-1E1B-F79B-65528EE1338F}"/>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
        <p:nvSpPr>
          <p:cNvPr id="23" name="TextBox 22">
            <a:extLst>
              <a:ext uri="{FF2B5EF4-FFF2-40B4-BE49-F238E27FC236}">
                <a16:creationId xmlns:a16="http://schemas.microsoft.com/office/drawing/2014/main" id="{A037DA71-9953-9711-273E-672B25091F13}"/>
              </a:ext>
            </a:extLst>
          </p:cNvPr>
          <p:cNvSpPr txBox="1"/>
          <p:nvPr/>
        </p:nvSpPr>
        <p:spPr>
          <a:xfrm>
            <a:off x="1220027" y="1103752"/>
            <a:ext cx="9852163" cy="2677656"/>
          </a:xfrm>
          <a:prstGeom prst="rect">
            <a:avLst/>
          </a:prstGeom>
          <a:noFill/>
        </p:spPr>
        <p:txBody>
          <a:bodyPr wrap="square">
            <a:spAutoFit/>
          </a:bodyPr>
          <a:lstStyle/>
          <a:p>
            <a:r>
              <a:rPr lang="en-US" sz="1200" dirty="0"/>
              <a:t>Threat Analysis and Risk Assessment (TARA).</a:t>
            </a:r>
          </a:p>
          <a:p>
            <a:endParaRPr lang="en-US" sz="1200" dirty="0"/>
          </a:p>
          <a:p>
            <a:r>
              <a:rPr lang="en-US" sz="1200" dirty="0"/>
              <a:t>The objective of conducting a TARA is self-explanatory, it aims to break down your system into threats and assessing the risks from the threats discovered.  Conducting a TARA is a crucial step after asset identification. Afterwards, begin funneling your selected assets and features down a TARA pipeline in order to generate risk documentation of each asset. As you can imagine corporations will have thousands of assets each with their own TARA, maintaining such documentation in a secure way is a topic for another time. Upon completion, three phases will follow.</a:t>
            </a:r>
          </a:p>
          <a:p>
            <a:endParaRPr lang="en-US" sz="1200" dirty="0"/>
          </a:p>
          <a:p>
            <a:r>
              <a:rPr lang="en-US" sz="1200" dirty="0"/>
              <a:t>    1. Establishing cybersecurity goals</a:t>
            </a:r>
          </a:p>
          <a:p>
            <a:r>
              <a:rPr lang="en-US" sz="1200" dirty="0"/>
              <a:t>    2. Developing strategies within the cybersecurity concept to tackle goals</a:t>
            </a:r>
          </a:p>
          <a:p>
            <a:r>
              <a:rPr lang="en-US" sz="1200" dirty="0"/>
              <a:t>    3. Establishing what functional cybersecurity requirements will need to comply with your concept</a:t>
            </a:r>
          </a:p>
          <a:p>
            <a:r>
              <a:rPr lang="en-US" sz="1200" dirty="0"/>
              <a:t>    </a:t>
            </a:r>
          </a:p>
          <a:p>
            <a:r>
              <a:rPr lang="en-US" sz="1200" dirty="0"/>
              <a:t>A TARA will help drive all reasoning for cybersecurity initiatives within the organization. Threat Analysis starts from the inception of the cybersecurity plan.  Organizations will need to draw inspiration from the cybersecurity plan in order to produce a document yielding a list of threats associated to features and assets identified throughout the process.  This information will then be utilized for threat analysis.</a:t>
            </a:r>
            <a:endParaRPr lang="en-IN" sz="1200" dirty="0"/>
          </a:p>
        </p:txBody>
      </p:sp>
      <p:pic>
        <p:nvPicPr>
          <p:cNvPr id="24" name="Picture 23">
            <a:extLst>
              <a:ext uri="{FF2B5EF4-FFF2-40B4-BE49-F238E27FC236}">
                <a16:creationId xmlns:a16="http://schemas.microsoft.com/office/drawing/2014/main" id="{576295A8-82D6-5FBE-2B2D-85DB6F9414CE}"/>
              </a:ext>
            </a:extLst>
          </p:cNvPr>
          <p:cNvPicPr>
            <a:picLocks noChangeAspect="1"/>
          </p:cNvPicPr>
          <p:nvPr/>
        </p:nvPicPr>
        <p:blipFill rotWithShape="1">
          <a:blip r:embed="rId3"/>
          <a:srcRect b="35371"/>
          <a:stretch/>
        </p:blipFill>
        <p:spPr>
          <a:xfrm>
            <a:off x="1367458" y="4055164"/>
            <a:ext cx="9714671" cy="2613993"/>
          </a:xfrm>
          <a:prstGeom prst="rect">
            <a:avLst/>
          </a:prstGeom>
        </p:spPr>
      </p:pic>
    </p:spTree>
    <p:extLst>
      <p:ext uri="{BB962C8B-B14F-4D97-AF65-F5344CB8AC3E}">
        <p14:creationId xmlns:p14="http://schemas.microsoft.com/office/powerpoint/2010/main" val="2420063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5F0C2-EE1D-9154-E76D-E73AA2D8ADB0}"/>
              </a:ext>
            </a:extLst>
          </p:cNvPr>
          <p:cNvSpPr txBox="1"/>
          <p:nvPr/>
        </p:nvSpPr>
        <p:spPr>
          <a:xfrm>
            <a:off x="1201723" y="486454"/>
            <a:ext cx="6094602" cy="369332"/>
          </a:xfrm>
          <a:prstGeom prst="rect">
            <a:avLst/>
          </a:prstGeom>
          <a:noFill/>
        </p:spPr>
        <p:txBody>
          <a:bodyPr wrap="square">
            <a:spAutoFit/>
          </a:bodyPr>
          <a:lstStyle/>
          <a:p>
            <a:r>
              <a:rPr lang="en-IN" sz="1800" dirty="0"/>
              <a:t>Automotive cyber security standards</a:t>
            </a:r>
            <a:endParaRPr lang="en-IN" dirty="0"/>
          </a:p>
        </p:txBody>
      </p:sp>
      <p:sp>
        <p:nvSpPr>
          <p:cNvPr id="5" name="TextBox 4">
            <a:extLst>
              <a:ext uri="{FF2B5EF4-FFF2-40B4-BE49-F238E27FC236}">
                <a16:creationId xmlns:a16="http://schemas.microsoft.com/office/drawing/2014/main" id="{40C2A96C-C1D3-2F75-020D-5F645A632319}"/>
              </a:ext>
            </a:extLst>
          </p:cNvPr>
          <p:cNvSpPr txBox="1"/>
          <p:nvPr/>
        </p:nvSpPr>
        <p:spPr>
          <a:xfrm>
            <a:off x="3047301" y="3246431"/>
            <a:ext cx="6094602" cy="369332"/>
          </a:xfrm>
          <a:prstGeom prst="rect">
            <a:avLst/>
          </a:prstGeom>
          <a:noFill/>
        </p:spPr>
        <p:txBody>
          <a:bodyPr wrap="square">
            <a:spAutoFit/>
          </a:bodyPr>
          <a:lstStyle/>
          <a:p>
            <a:r>
              <a:rPr lang="en-IN" sz="1800" dirty="0"/>
              <a:t>UN R 155</a:t>
            </a:r>
            <a:endParaRPr lang="en-IN" dirty="0"/>
          </a:p>
        </p:txBody>
      </p:sp>
      <p:pic>
        <p:nvPicPr>
          <p:cNvPr id="4" name="Picture 3" descr="Text, logo&#10;&#10;Description automatically generated">
            <a:extLst>
              <a:ext uri="{FF2B5EF4-FFF2-40B4-BE49-F238E27FC236}">
                <a16:creationId xmlns:a16="http://schemas.microsoft.com/office/drawing/2014/main" id="{D5C71823-109D-17DE-50D2-3391637EF3ED}"/>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2115469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5F0C2-EE1D-9154-E76D-E73AA2D8ADB0}"/>
              </a:ext>
            </a:extLst>
          </p:cNvPr>
          <p:cNvSpPr txBox="1"/>
          <p:nvPr/>
        </p:nvSpPr>
        <p:spPr>
          <a:xfrm>
            <a:off x="1201723" y="486454"/>
            <a:ext cx="6094602" cy="369332"/>
          </a:xfrm>
          <a:prstGeom prst="rect">
            <a:avLst/>
          </a:prstGeom>
          <a:noFill/>
        </p:spPr>
        <p:txBody>
          <a:bodyPr wrap="square">
            <a:spAutoFit/>
          </a:bodyPr>
          <a:lstStyle/>
          <a:p>
            <a:r>
              <a:rPr lang="en-IN" sz="1800" dirty="0"/>
              <a:t>Automotive cyber security standards</a:t>
            </a:r>
            <a:endParaRPr lang="en-IN" dirty="0"/>
          </a:p>
        </p:txBody>
      </p:sp>
      <p:sp>
        <p:nvSpPr>
          <p:cNvPr id="5" name="TextBox 4">
            <a:extLst>
              <a:ext uri="{FF2B5EF4-FFF2-40B4-BE49-F238E27FC236}">
                <a16:creationId xmlns:a16="http://schemas.microsoft.com/office/drawing/2014/main" id="{40C2A96C-C1D3-2F75-020D-5F645A632319}"/>
              </a:ext>
            </a:extLst>
          </p:cNvPr>
          <p:cNvSpPr txBox="1"/>
          <p:nvPr/>
        </p:nvSpPr>
        <p:spPr>
          <a:xfrm>
            <a:off x="3047301" y="3246431"/>
            <a:ext cx="6094602" cy="369332"/>
          </a:xfrm>
          <a:prstGeom prst="rect">
            <a:avLst/>
          </a:prstGeom>
          <a:noFill/>
        </p:spPr>
        <p:txBody>
          <a:bodyPr wrap="square">
            <a:spAutoFit/>
          </a:bodyPr>
          <a:lstStyle/>
          <a:p>
            <a:r>
              <a:rPr lang="en-IN" sz="1800" dirty="0"/>
              <a:t>UN R 156</a:t>
            </a:r>
            <a:endParaRPr lang="en-IN" dirty="0"/>
          </a:p>
        </p:txBody>
      </p:sp>
      <p:pic>
        <p:nvPicPr>
          <p:cNvPr id="4" name="Picture 3" descr="Text, logo&#10;&#10;Description automatically generated">
            <a:extLst>
              <a:ext uri="{FF2B5EF4-FFF2-40B4-BE49-F238E27FC236}">
                <a16:creationId xmlns:a16="http://schemas.microsoft.com/office/drawing/2014/main" id="{8BA39C0A-5B72-DFA9-7FDA-B89BC1E01753}"/>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2600255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5F0C2-EE1D-9154-E76D-E73AA2D8ADB0}"/>
              </a:ext>
            </a:extLst>
          </p:cNvPr>
          <p:cNvSpPr txBox="1"/>
          <p:nvPr/>
        </p:nvSpPr>
        <p:spPr>
          <a:xfrm>
            <a:off x="1201723" y="486454"/>
            <a:ext cx="6094602" cy="369332"/>
          </a:xfrm>
          <a:prstGeom prst="rect">
            <a:avLst/>
          </a:prstGeom>
          <a:noFill/>
        </p:spPr>
        <p:txBody>
          <a:bodyPr wrap="square">
            <a:spAutoFit/>
          </a:bodyPr>
          <a:lstStyle/>
          <a:p>
            <a:r>
              <a:rPr lang="en-IN" sz="1800" b="1" dirty="0"/>
              <a:t>Automotive cyber security standards</a:t>
            </a:r>
            <a:endParaRPr lang="en-IN" b="1" dirty="0"/>
          </a:p>
        </p:txBody>
      </p:sp>
      <p:sp>
        <p:nvSpPr>
          <p:cNvPr id="5" name="TextBox 4">
            <a:extLst>
              <a:ext uri="{FF2B5EF4-FFF2-40B4-BE49-F238E27FC236}">
                <a16:creationId xmlns:a16="http://schemas.microsoft.com/office/drawing/2014/main" id="{40C2A96C-C1D3-2F75-020D-5F645A632319}"/>
              </a:ext>
            </a:extLst>
          </p:cNvPr>
          <p:cNvSpPr txBox="1"/>
          <p:nvPr/>
        </p:nvSpPr>
        <p:spPr>
          <a:xfrm>
            <a:off x="3047301" y="3246431"/>
            <a:ext cx="6094602" cy="369332"/>
          </a:xfrm>
          <a:prstGeom prst="rect">
            <a:avLst/>
          </a:prstGeom>
          <a:noFill/>
        </p:spPr>
        <p:txBody>
          <a:bodyPr wrap="square">
            <a:spAutoFit/>
          </a:bodyPr>
          <a:lstStyle/>
          <a:p>
            <a:r>
              <a:rPr lang="en-IN" sz="1800" dirty="0"/>
              <a:t>UN R 156</a:t>
            </a:r>
            <a:endParaRPr lang="en-IN" dirty="0"/>
          </a:p>
        </p:txBody>
      </p:sp>
      <p:pic>
        <p:nvPicPr>
          <p:cNvPr id="4" name="Picture 3" descr="Text, logo&#10;&#10;Description automatically generated">
            <a:extLst>
              <a:ext uri="{FF2B5EF4-FFF2-40B4-BE49-F238E27FC236}">
                <a16:creationId xmlns:a16="http://schemas.microsoft.com/office/drawing/2014/main" id="{D92C6BBD-40C6-6C17-FA62-275F62B267DE}"/>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1380073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223FAB-4F05-48A0-B3E3-7462BA84CC2E}"/>
              </a:ext>
            </a:extLst>
          </p:cNvPr>
          <p:cNvPicPr>
            <a:picLocks noChangeAspect="1"/>
          </p:cNvPicPr>
          <p:nvPr/>
        </p:nvPicPr>
        <p:blipFill>
          <a:blip r:embed="rId3"/>
          <a:stretch>
            <a:fillRect/>
          </a:stretch>
        </p:blipFill>
        <p:spPr>
          <a:xfrm>
            <a:off x="10124387" y="6376026"/>
            <a:ext cx="2067613" cy="481974"/>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1CE5E67F-EB08-4881-8B41-0618959B7619}"/>
              </a:ext>
            </a:extLst>
          </p:cNvPr>
          <p:cNvSpPr txBox="1"/>
          <p:nvPr/>
        </p:nvSpPr>
        <p:spPr>
          <a:xfrm>
            <a:off x="1122793" y="348734"/>
            <a:ext cx="8639175" cy="646331"/>
          </a:xfrm>
          <a:prstGeom prst="rect">
            <a:avLst/>
          </a:prstGeom>
          <a:noFill/>
        </p:spPr>
        <p:txBody>
          <a:bodyPr wrap="square">
            <a:spAutoFit/>
          </a:bodyPr>
          <a:lstStyle>
            <a:defPPr>
              <a:defRPr lang="en-US"/>
            </a:defPPr>
            <a:lvl1pPr>
              <a:defRPr b="1"/>
            </a:lvl1pPr>
          </a:lstStyle>
          <a:p>
            <a:r>
              <a:rPr lang="en-IN" dirty="0"/>
              <a:t>Basic concepts of security(CIA) </a:t>
            </a:r>
          </a:p>
          <a:p>
            <a:endParaRPr lang="en-IN" dirty="0"/>
          </a:p>
        </p:txBody>
      </p:sp>
      <p:sp>
        <p:nvSpPr>
          <p:cNvPr id="7" name="TextBox 6">
            <a:extLst>
              <a:ext uri="{FF2B5EF4-FFF2-40B4-BE49-F238E27FC236}">
                <a16:creationId xmlns:a16="http://schemas.microsoft.com/office/drawing/2014/main" id="{1309CDFF-1280-3646-0496-329D152DE6AE}"/>
              </a:ext>
            </a:extLst>
          </p:cNvPr>
          <p:cNvSpPr txBox="1"/>
          <p:nvPr/>
        </p:nvSpPr>
        <p:spPr>
          <a:xfrm>
            <a:off x="1258350" y="2784226"/>
            <a:ext cx="6107185" cy="3416320"/>
          </a:xfrm>
          <a:prstGeom prst="rect">
            <a:avLst/>
          </a:prstGeom>
          <a:noFill/>
        </p:spPr>
        <p:txBody>
          <a:bodyPr wrap="square">
            <a:spAutoFit/>
          </a:bodyPr>
          <a:lstStyle/>
          <a:p>
            <a:br>
              <a:rPr lang="en-IN" dirty="0"/>
            </a:br>
            <a:r>
              <a:rPr lang="en-US" dirty="0"/>
              <a:t>Confidentiality   </a:t>
            </a:r>
          </a:p>
          <a:p>
            <a:endParaRPr lang="en-US" dirty="0"/>
          </a:p>
          <a:p>
            <a:pPr lvl="1"/>
            <a:r>
              <a:rPr lang="en-US" dirty="0"/>
              <a:t>Information / Data is only available to authorized person</a:t>
            </a:r>
            <a:br>
              <a:rPr lang="en-US" dirty="0"/>
            </a:br>
            <a:br>
              <a:rPr lang="en-US" dirty="0"/>
            </a:br>
            <a:r>
              <a:rPr lang="en-US" dirty="0"/>
              <a:t>Example: Encryption and decryption</a:t>
            </a:r>
          </a:p>
          <a:p>
            <a:pPr lvl="1"/>
            <a:endParaRPr lang="en-US" dirty="0"/>
          </a:p>
          <a:p>
            <a:pPr lvl="1"/>
            <a:r>
              <a:rPr lang="en-US" dirty="0"/>
              <a:t>The data can be encrypted by the sender side and can be decrypted from the receiver side by using authorized key. So we ensure that the data is not visible or by other unauthorized users</a:t>
            </a:r>
          </a:p>
        </p:txBody>
      </p:sp>
      <p:sp>
        <p:nvSpPr>
          <p:cNvPr id="4" name="TextBox 3">
            <a:extLst>
              <a:ext uri="{FF2B5EF4-FFF2-40B4-BE49-F238E27FC236}">
                <a16:creationId xmlns:a16="http://schemas.microsoft.com/office/drawing/2014/main" id="{7485FCD3-35D5-E610-E2FB-B3FE8CAB63A0}"/>
              </a:ext>
            </a:extLst>
          </p:cNvPr>
          <p:cNvSpPr txBox="1"/>
          <p:nvPr/>
        </p:nvSpPr>
        <p:spPr>
          <a:xfrm>
            <a:off x="1535185" y="1241571"/>
            <a:ext cx="6602136" cy="369332"/>
          </a:xfrm>
          <a:prstGeom prst="rect">
            <a:avLst/>
          </a:prstGeom>
          <a:noFill/>
        </p:spPr>
        <p:txBody>
          <a:bodyPr wrap="square" rtlCol="0">
            <a:spAutoFit/>
          </a:bodyPr>
          <a:lstStyle/>
          <a:p>
            <a:r>
              <a:rPr lang="en-IN" dirty="0"/>
              <a:t>C - Confidentiality</a:t>
            </a:r>
          </a:p>
        </p:txBody>
      </p:sp>
      <p:sp>
        <p:nvSpPr>
          <p:cNvPr id="10" name="TextBox 9">
            <a:extLst>
              <a:ext uri="{FF2B5EF4-FFF2-40B4-BE49-F238E27FC236}">
                <a16:creationId xmlns:a16="http://schemas.microsoft.com/office/drawing/2014/main" id="{BAE5A889-DF32-7D76-2B92-7824FEC29F5C}"/>
              </a:ext>
            </a:extLst>
          </p:cNvPr>
          <p:cNvSpPr txBox="1"/>
          <p:nvPr/>
        </p:nvSpPr>
        <p:spPr>
          <a:xfrm>
            <a:off x="1570139" y="1712753"/>
            <a:ext cx="6602136" cy="646331"/>
          </a:xfrm>
          <a:prstGeom prst="rect">
            <a:avLst/>
          </a:prstGeom>
          <a:noFill/>
        </p:spPr>
        <p:txBody>
          <a:bodyPr wrap="square" rtlCol="0">
            <a:spAutoFit/>
          </a:bodyPr>
          <a:lstStyle/>
          <a:p>
            <a:r>
              <a:rPr lang="en-IN" dirty="0"/>
              <a:t>I - Integrity</a:t>
            </a:r>
          </a:p>
          <a:p>
            <a:endParaRPr lang="en-IN" dirty="0"/>
          </a:p>
        </p:txBody>
      </p:sp>
      <p:sp>
        <p:nvSpPr>
          <p:cNvPr id="11" name="TextBox 10">
            <a:extLst>
              <a:ext uri="{FF2B5EF4-FFF2-40B4-BE49-F238E27FC236}">
                <a16:creationId xmlns:a16="http://schemas.microsoft.com/office/drawing/2014/main" id="{C37931DB-7865-52C1-86B1-35688F781697}"/>
              </a:ext>
            </a:extLst>
          </p:cNvPr>
          <p:cNvSpPr txBox="1"/>
          <p:nvPr/>
        </p:nvSpPr>
        <p:spPr>
          <a:xfrm>
            <a:off x="1563148" y="2209102"/>
            <a:ext cx="6602136" cy="646331"/>
          </a:xfrm>
          <a:prstGeom prst="rect">
            <a:avLst/>
          </a:prstGeom>
          <a:noFill/>
        </p:spPr>
        <p:txBody>
          <a:bodyPr wrap="square" rtlCol="0">
            <a:spAutoFit/>
          </a:bodyPr>
          <a:lstStyle/>
          <a:p>
            <a:r>
              <a:rPr lang="en-IN" dirty="0"/>
              <a:t>A - Availability</a:t>
            </a:r>
          </a:p>
          <a:p>
            <a:endParaRPr lang="en-IN" dirty="0"/>
          </a:p>
        </p:txBody>
      </p:sp>
      <p:pic>
        <p:nvPicPr>
          <p:cNvPr id="12" name="Picture 11" descr="Text, logo&#10;&#10;Description automatically generated">
            <a:extLst>
              <a:ext uri="{FF2B5EF4-FFF2-40B4-BE49-F238E27FC236}">
                <a16:creationId xmlns:a16="http://schemas.microsoft.com/office/drawing/2014/main" id="{21D6B173-86FB-6F25-9256-1B5CDB488BFF}"/>
              </a:ext>
            </a:extLst>
          </p:cNvPr>
          <p:cNvPicPr>
            <a:picLocks noChangeAspect="1"/>
          </p:cNvPicPr>
          <p:nvPr/>
        </p:nvPicPr>
        <p:blipFill>
          <a:blip r:embed="rId3">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4205032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22411D-8F56-106C-CE12-FCCD5D0AA517}"/>
              </a:ext>
            </a:extLst>
          </p:cNvPr>
          <p:cNvSpPr txBox="1"/>
          <p:nvPr/>
        </p:nvSpPr>
        <p:spPr>
          <a:xfrm>
            <a:off x="950053" y="612325"/>
            <a:ext cx="6094602" cy="4247317"/>
          </a:xfrm>
          <a:prstGeom prst="rect">
            <a:avLst/>
          </a:prstGeom>
          <a:noFill/>
        </p:spPr>
        <p:txBody>
          <a:bodyPr wrap="square">
            <a:spAutoFit/>
          </a:bodyPr>
          <a:lstStyle/>
          <a:p>
            <a:pPr>
              <a:defRPr/>
            </a:pPr>
            <a:endParaRPr lang="en-US" b="1" u="sng" dirty="0">
              <a:latin typeface="Quire Sans" panose="020B0502040400020003" pitchFamily="34" charset="0"/>
              <a:cs typeface="Quire Sans" panose="020B0502040400020003" pitchFamily="34" charset="0"/>
            </a:endParaRPr>
          </a:p>
          <a:p>
            <a:pPr>
              <a:defRPr/>
            </a:pPr>
            <a:endParaRPr lang="en-US" b="1" u="sng" dirty="0">
              <a:latin typeface="Quire Sans" panose="020B0502040400020003" pitchFamily="34" charset="0"/>
              <a:cs typeface="Quire Sans" panose="020B0502040400020003" pitchFamily="34" charset="0"/>
            </a:endParaRPr>
          </a:p>
          <a:p>
            <a:pPr>
              <a:defRPr/>
            </a:pPr>
            <a:endParaRPr lang="en-US" b="1" u="sng" dirty="0">
              <a:latin typeface="Quire Sans" panose="020B0502040400020003" pitchFamily="34" charset="0"/>
              <a:cs typeface="Quire Sans" panose="020B0502040400020003" pitchFamily="34" charset="0"/>
            </a:endParaRPr>
          </a:p>
          <a:p>
            <a:pPr>
              <a:defRPr/>
            </a:pPr>
            <a:endParaRPr lang="en-US" b="1" u="sng" dirty="0">
              <a:latin typeface="Quire Sans" panose="020B0502040400020003" pitchFamily="34" charset="0"/>
              <a:cs typeface="Quire Sans" panose="020B0502040400020003" pitchFamily="34" charset="0"/>
            </a:endParaRPr>
          </a:p>
          <a:p>
            <a:pPr lvl="1">
              <a:defRPr/>
            </a:pPr>
            <a:r>
              <a:rPr lang="en-US" dirty="0">
                <a:latin typeface="Quire Sans" panose="020B0502040400020003" pitchFamily="34" charset="0"/>
                <a:cs typeface="Quire Sans" panose="020B0502040400020003" pitchFamily="34" charset="0"/>
              </a:rPr>
              <a:t>Ensure that the Information/ data is not modified by unauthorized person</a:t>
            </a:r>
          </a:p>
          <a:p>
            <a:pPr lvl="1">
              <a:defRPr/>
            </a:pPr>
            <a:r>
              <a:rPr lang="en-US" dirty="0">
                <a:latin typeface="Quire Sans" panose="020B0502040400020003" pitchFamily="34" charset="0"/>
                <a:cs typeface="Quire Sans" panose="020B0502040400020003" pitchFamily="34" charset="0"/>
              </a:rPr>
              <a:t>Example : Hash , MAC.</a:t>
            </a:r>
          </a:p>
          <a:p>
            <a:pPr lvl="1">
              <a:defRPr/>
            </a:pPr>
            <a:endParaRPr lang="en-US" dirty="0">
              <a:latin typeface="Quire Sans" panose="020B0502040400020003" pitchFamily="34" charset="0"/>
              <a:cs typeface="Quire Sans" panose="020B0502040400020003" pitchFamily="34" charset="0"/>
            </a:endParaRPr>
          </a:p>
          <a:p>
            <a:pPr lvl="1">
              <a:defRPr/>
            </a:pPr>
            <a:r>
              <a:rPr lang="en-US" dirty="0">
                <a:latin typeface="Quire Sans" panose="020B0502040400020003" pitchFamily="34" charset="0"/>
                <a:cs typeface="Quire Sans" panose="020B0502040400020003" pitchFamily="34" charset="0"/>
              </a:rPr>
              <a:t>Calculate Hash for the actual data and send the calculated hash along with actual data to the receiver. On the receiver side the hash is calculated again and compared using the calculated hash sent by sender. If the hash matches we ensure that the data is not modified in the communication medium. </a:t>
            </a:r>
            <a:br>
              <a:rPr lang="en-US" dirty="0">
                <a:latin typeface="Quire Sans" panose="020B0502040400020003" pitchFamily="34" charset="0"/>
                <a:cs typeface="Quire Sans" panose="020B0502040400020003" pitchFamily="34" charset="0"/>
              </a:rPr>
            </a:br>
            <a:endParaRPr lang="en-IN" dirty="0"/>
          </a:p>
        </p:txBody>
      </p:sp>
      <p:pic>
        <p:nvPicPr>
          <p:cNvPr id="4" name="Picture 3" descr="Text, logo&#10;&#10;Description automatically generated">
            <a:extLst>
              <a:ext uri="{FF2B5EF4-FFF2-40B4-BE49-F238E27FC236}">
                <a16:creationId xmlns:a16="http://schemas.microsoft.com/office/drawing/2014/main" id="{82E4FECC-AD14-A12D-EA18-0FBD52673F52}"/>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
        <p:nvSpPr>
          <p:cNvPr id="5" name="TextBox 4">
            <a:extLst>
              <a:ext uri="{FF2B5EF4-FFF2-40B4-BE49-F238E27FC236}">
                <a16:creationId xmlns:a16="http://schemas.microsoft.com/office/drawing/2014/main" id="{ADC1F712-5496-F269-2409-563009F17279}"/>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Integrity</a:t>
            </a:r>
          </a:p>
        </p:txBody>
      </p:sp>
    </p:spTree>
    <p:extLst>
      <p:ext uri="{BB962C8B-B14F-4D97-AF65-F5344CB8AC3E}">
        <p14:creationId xmlns:p14="http://schemas.microsoft.com/office/powerpoint/2010/main" val="1521113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A93142-6942-A269-1A99-9AC3CFA42D8A}"/>
              </a:ext>
            </a:extLst>
          </p:cNvPr>
          <p:cNvSpPr txBox="1"/>
          <p:nvPr/>
        </p:nvSpPr>
        <p:spPr>
          <a:xfrm>
            <a:off x="1411447" y="1800260"/>
            <a:ext cx="6094602" cy="1692771"/>
          </a:xfrm>
          <a:prstGeom prst="rect">
            <a:avLst/>
          </a:prstGeom>
          <a:noFill/>
        </p:spPr>
        <p:txBody>
          <a:bodyPr wrap="square">
            <a:spAutoFit/>
          </a:bodyPr>
          <a:lstStyle/>
          <a:p>
            <a:pPr lvl="1">
              <a:defRPr/>
            </a:pPr>
            <a:r>
              <a:rPr lang="en-IN" dirty="0">
                <a:latin typeface="Quire Sans" panose="020B0502040400020003" pitchFamily="34" charset="0"/>
                <a:cs typeface="Quire Sans" panose="020B0502040400020003" pitchFamily="34" charset="0"/>
              </a:rPr>
              <a:t>Ensure that the data is available for the user at the right time</a:t>
            </a:r>
          </a:p>
          <a:p>
            <a:pPr lvl="1">
              <a:defRPr/>
            </a:pPr>
            <a:endParaRPr lang="en-IN" dirty="0">
              <a:latin typeface="Quire Sans" panose="020B0502040400020003" pitchFamily="34" charset="0"/>
              <a:cs typeface="Quire Sans" panose="020B0502040400020003" pitchFamily="34" charset="0"/>
            </a:endParaRPr>
          </a:p>
          <a:p>
            <a:r>
              <a:rPr lang="en-IN" sz="1600" dirty="0">
                <a:latin typeface="Quire Sans" panose="020B0502040400020003" pitchFamily="34" charset="0"/>
                <a:cs typeface="Quire Sans" panose="020B0502040400020003" pitchFamily="34" charset="0"/>
              </a:rPr>
              <a:t>Example: Make the CAN bus busy so that the CAN network will not be available for the user.</a:t>
            </a:r>
            <a:br>
              <a:rPr lang="en-IN" sz="1600" dirty="0"/>
            </a:br>
            <a:endParaRPr lang="en-IN" dirty="0"/>
          </a:p>
        </p:txBody>
      </p:sp>
      <p:sp>
        <p:nvSpPr>
          <p:cNvPr id="4" name="TextBox 3">
            <a:extLst>
              <a:ext uri="{FF2B5EF4-FFF2-40B4-BE49-F238E27FC236}">
                <a16:creationId xmlns:a16="http://schemas.microsoft.com/office/drawing/2014/main" id="{07B4EFCB-BB7A-2775-5F32-E7D42EED2DBF}"/>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Availability </a:t>
            </a:r>
          </a:p>
        </p:txBody>
      </p:sp>
    </p:spTree>
    <p:extLst>
      <p:ext uri="{BB962C8B-B14F-4D97-AF65-F5344CB8AC3E}">
        <p14:creationId xmlns:p14="http://schemas.microsoft.com/office/powerpoint/2010/main" val="336270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xt, logo&#10;&#10;Description automatically generated">
            <a:extLst>
              <a:ext uri="{FF2B5EF4-FFF2-40B4-BE49-F238E27FC236}">
                <a16:creationId xmlns:a16="http://schemas.microsoft.com/office/drawing/2014/main" id="{3261532F-5735-2185-9FC9-B5CF9B01F24E}"/>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
        <p:nvSpPr>
          <p:cNvPr id="4" name="TextBox 3">
            <a:extLst>
              <a:ext uri="{FF2B5EF4-FFF2-40B4-BE49-F238E27FC236}">
                <a16:creationId xmlns:a16="http://schemas.microsoft.com/office/drawing/2014/main" id="{DCFAC96C-DC71-DEB3-B185-DA6C0388061A}"/>
              </a:ext>
            </a:extLst>
          </p:cNvPr>
          <p:cNvSpPr txBox="1"/>
          <p:nvPr/>
        </p:nvSpPr>
        <p:spPr>
          <a:xfrm>
            <a:off x="1537283" y="1471996"/>
            <a:ext cx="6094602" cy="3693319"/>
          </a:xfrm>
          <a:prstGeom prst="rect">
            <a:avLst/>
          </a:prstGeom>
          <a:noFill/>
        </p:spPr>
        <p:txBody>
          <a:bodyPr wrap="square">
            <a:spAutoFit/>
          </a:bodyPr>
          <a:lstStyle/>
          <a:p>
            <a:r>
              <a:rPr lang="en-IN" sz="1800" dirty="0"/>
              <a:t>AES </a:t>
            </a:r>
            <a:endParaRPr lang="en-IN" dirty="0"/>
          </a:p>
          <a:p>
            <a:endParaRPr lang="en-IN" sz="1800" dirty="0"/>
          </a:p>
          <a:p>
            <a:r>
              <a:rPr lang="en-IN" sz="1800" dirty="0"/>
              <a:t> </a:t>
            </a:r>
          </a:p>
          <a:p>
            <a:endParaRPr lang="en-IN" dirty="0"/>
          </a:p>
          <a:p>
            <a:r>
              <a:rPr lang="en-IN" sz="1800" dirty="0"/>
              <a:t>ECB </a:t>
            </a:r>
          </a:p>
          <a:p>
            <a:endParaRPr lang="en-IN" dirty="0"/>
          </a:p>
          <a:p>
            <a:endParaRPr lang="en-IN" sz="1800" dirty="0"/>
          </a:p>
          <a:p>
            <a:endParaRPr lang="en-IN" dirty="0"/>
          </a:p>
          <a:p>
            <a:r>
              <a:rPr lang="en-IN" sz="1800" dirty="0"/>
              <a:t>CBC mode</a:t>
            </a:r>
          </a:p>
          <a:p>
            <a:endParaRPr lang="en-IN" dirty="0"/>
          </a:p>
          <a:p>
            <a:br>
              <a:rPr lang="en-IN" sz="1800" dirty="0"/>
            </a:br>
            <a:r>
              <a:rPr lang="en-IN" sz="1800" dirty="0"/>
              <a:t>		</a:t>
            </a:r>
          </a:p>
          <a:p>
            <a:r>
              <a:rPr lang="en-IN" sz="1800" dirty="0"/>
              <a:t> RSA</a:t>
            </a:r>
          </a:p>
        </p:txBody>
      </p:sp>
      <p:sp>
        <p:nvSpPr>
          <p:cNvPr id="5" name="TextBox 4">
            <a:extLst>
              <a:ext uri="{FF2B5EF4-FFF2-40B4-BE49-F238E27FC236}">
                <a16:creationId xmlns:a16="http://schemas.microsoft.com/office/drawing/2014/main" id="{A889018D-72FD-F3B4-956C-EEC9777E4783}"/>
              </a:ext>
            </a:extLst>
          </p:cNvPr>
          <p:cNvSpPr txBox="1"/>
          <p:nvPr/>
        </p:nvSpPr>
        <p:spPr>
          <a:xfrm>
            <a:off x="1122793" y="348734"/>
            <a:ext cx="8639175" cy="646331"/>
          </a:xfrm>
          <a:prstGeom prst="rect">
            <a:avLst/>
          </a:prstGeom>
          <a:noFill/>
        </p:spPr>
        <p:txBody>
          <a:bodyPr wrap="square">
            <a:spAutoFit/>
          </a:bodyPr>
          <a:lstStyle>
            <a:defPPr>
              <a:defRPr lang="en-US"/>
            </a:defPPr>
            <a:lvl1pPr>
              <a:defRPr b="1"/>
            </a:lvl1pPr>
          </a:lstStyle>
          <a:p>
            <a:r>
              <a:rPr lang="en-IN" dirty="0"/>
              <a:t>Symmetric and Asymmetric algorithms</a:t>
            </a:r>
            <a:br>
              <a:rPr lang="en-IN" dirty="0"/>
            </a:br>
            <a:r>
              <a:rPr lang="en-IN" dirty="0"/>
              <a:t> </a:t>
            </a:r>
          </a:p>
        </p:txBody>
      </p:sp>
    </p:spTree>
    <p:extLst>
      <p:ext uri="{BB962C8B-B14F-4D97-AF65-F5344CB8AC3E}">
        <p14:creationId xmlns:p14="http://schemas.microsoft.com/office/powerpoint/2010/main" val="223542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A877E7-1DC9-D689-03EC-23A94D417AF1}"/>
              </a:ext>
            </a:extLst>
          </p:cNvPr>
          <p:cNvSpPr txBox="1"/>
          <p:nvPr/>
        </p:nvSpPr>
        <p:spPr>
          <a:xfrm>
            <a:off x="4439873" y="2675980"/>
            <a:ext cx="6094602" cy="646331"/>
          </a:xfrm>
          <a:prstGeom prst="rect">
            <a:avLst/>
          </a:prstGeom>
          <a:noFill/>
        </p:spPr>
        <p:txBody>
          <a:bodyPr wrap="square">
            <a:spAutoFit/>
          </a:bodyPr>
          <a:lstStyle/>
          <a:p>
            <a:r>
              <a:rPr lang="en-IN" sz="3600" dirty="0"/>
              <a:t>Cryptography</a:t>
            </a:r>
          </a:p>
        </p:txBody>
      </p:sp>
      <p:pic>
        <p:nvPicPr>
          <p:cNvPr id="4" name="Picture 3" descr="Text, logo&#10;&#10;Description automatically generated">
            <a:extLst>
              <a:ext uri="{FF2B5EF4-FFF2-40B4-BE49-F238E27FC236}">
                <a16:creationId xmlns:a16="http://schemas.microsoft.com/office/drawing/2014/main" id="{3BCDACA2-CF44-8D5C-A35F-7A9DF98DB677}"/>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1199457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303EF0-D274-66D0-7DC6-6CDBB772998D}"/>
              </a:ext>
            </a:extLst>
          </p:cNvPr>
          <p:cNvSpPr txBox="1"/>
          <p:nvPr/>
        </p:nvSpPr>
        <p:spPr>
          <a:xfrm>
            <a:off x="3533863" y="2550145"/>
            <a:ext cx="6094602" cy="369332"/>
          </a:xfrm>
          <a:prstGeom prst="rect">
            <a:avLst/>
          </a:prstGeom>
          <a:noFill/>
        </p:spPr>
        <p:txBody>
          <a:bodyPr wrap="square">
            <a:spAutoFit/>
          </a:bodyPr>
          <a:lstStyle/>
          <a:p>
            <a:r>
              <a:rPr lang="en-IN" sz="1800" dirty="0"/>
              <a:t>Difference between SHE and HSM </a:t>
            </a:r>
            <a:endParaRPr lang="en-IN" dirty="0"/>
          </a:p>
        </p:txBody>
      </p:sp>
      <p:sp>
        <p:nvSpPr>
          <p:cNvPr id="4" name="TextBox 3">
            <a:extLst>
              <a:ext uri="{FF2B5EF4-FFF2-40B4-BE49-F238E27FC236}">
                <a16:creationId xmlns:a16="http://schemas.microsoft.com/office/drawing/2014/main" id="{72795179-53E9-F275-BA0F-5711848A49FD}"/>
              </a:ext>
            </a:extLst>
          </p:cNvPr>
          <p:cNvSpPr txBox="1"/>
          <p:nvPr/>
        </p:nvSpPr>
        <p:spPr>
          <a:xfrm>
            <a:off x="1122793" y="348734"/>
            <a:ext cx="8639175" cy="646331"/>
          </a:xfrm>
          <a:prstGeom prst="rect">
            <a:avLst/>
          </a:prstGeom>
          <a:noFill/>
        </p:spPr>
        <p:txBody>
          <a:bodyPr wrap="square">
            <a:spAutoFit/>
          </a:bodyPr>
          <a:lstStyle>
            <a:defPPr>
              <a:defRPr lang="en-US"/>
            </a:defPPr>
            <a:lvl1pPr>
              <a:defRPr b="1"/>
            </a:lvl1pPr>
          </a:lstStyle>
          <a:p>
            <a:r>
              <a:rPr lang="en-IN" dirty="0"/>
              <a:t>Overview of an ECU Software architecture</a:t>
            </a:r>
            <a:br>
              <a:rPr lang="en-IN" dirty="0"/>
            </a:br>
            <a:r>
              <a:rPr lang="en-IN" dirty="0"/>
              <a:t> </a:t>
            </a:r>
          </a:p>
        </p:txBody>
      </p:sp>
      <p:pic>
        <p:nvPicPr>
          <p:cNvPr id="5" name="Picture 4" descr="Text, logo&#10;&#10;Description automatically generated">
            <a:extLst>
              <a:ext uri="{FF2B5EF4-FFF2-40B4-BE49-F238E27FC236}">
                <a16:creationId xmlns:a16="http://schemas.microsoft.com/office/drawing/2014/main" id="{D2AE90B5-093D-AF37-471C-E71515365DE5}"/>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2559338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A8CAA-48E0-DCF6-5C15-6623BF91C6C7}"/>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Key management </a:t>
            </a:r>
          </a:p>
        </p:txBody>
      </p:sp>
      <p:pic>
        <p:nvPicPr>
          <p:cNvPr id="5" name="Picture 4" descr="Text, logo&#10;&#10;Description automatically generated">
            <a:extLst>
              <a:ext uri="{FF2B5EF4-FFF2-40B4-BE49-F238E27FC236}">
                <a16:creationId xmlns:a16="http://schemas.microsoft.com/office/drawing/2014/main" id="{B3A369ED-B3ED-4A80-2DE6-68B56161AEA9}"/>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1705801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40A15A-A762-1002-F2E4-BA706CA3C83D}"/>
              </a:ext>
            </a:extLst>
          </p:cNvPr>
          <p:cNvSpPr txBox="1"/>
          <p:nvPr/>
        </p:nvSpPr>
        <p:spPr>
          <a:xfrm>
            <a:off x="1805731" y="2788934"/>
            <a:ext cx="6094602" cy="461665"/>
          </a:xfrm>
          <a:prstGeom prst="rect">
            <a:avLst/>
          </a:prstGeom>
          <a:noFill/>
        </p:spPr>
        <p:txBody>
          <a:bodyPr wrap="square">
            <a:spAutoFit/>
          </a:bodyPr>
          <a:lstStyle/>
          <a:p>
            <a:r>
              <a:rPr lang="en-IN" sz="1200" dirty="0"/>
              <a:t>DH   </a:t>
            </a:r>
            <a:br>
              <a:rPr lang="en-IN" sz="1200" dirty="0"/>
            </a:br>
            <a:endParaRPr lang="en-IN" sz="1200" dirty="0"/>
          </a:p>
        </p:txBody>
      </p:sp>
      <p:sp>
        <p:nvSpPr>
          <p:cNvPr id="4" name="TextBox 3">
            <a:extLst>
              <a:ext uri="{FF2B5EF4-FFF2-40B4-BE49-F238E27FC236}">
                <a16:creationId xmlns:a16="http://schemas.microsoft.com/office/drawing/2014/main" id="{225C129C-1819-FA11-8891-F9D655E2597B}"/>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sz="1800" dirty="0"/>
              <a:t>Key exchange algorithm</a:t>
            </a:r>
            <a:endParaRPr lang="en-IN" dirty="0"/>
          </a:p>
        </p:txBody>
      </p:sp>
      <p:pic>
        <p:nvPicPr>
          <p:cNvPr id="5" name="Picture 4" descr="Text, logo&#10;&#10;Description automatically generated">
            <a:extLst>
              <a:ext uri="{FF2B5EF4-FFF2-40B4-BE49-F238E27FC236}">
                <a16:creationId xmlns:a16="http://schemas.microsoft.com/office/drawing/2014/main" id="{4B694720-0A36-09A3-8D0B-E3E7EA2185F0}"/>
              </a:ext>
            </a:extLst>
          </p:cNvPr>
          <p:cNvPicPr>
            <a:picLocks noChangeAspect="1"/>
          </p:cNvPicPr>
          <p:nvPr/>
        </p:nvPicPr>
        <p:blipFill>
          <a:blip r:embed="rId2">
            <a:alphaModFix amt="5000"/>
          </a:blip>
          <a:stretch>
            <a:fillRect/>
          </a:stretch>
        </p:blipFill>
        <p:spPr>
          <a:xfrm rot="20023087">
            <a:off x="1269151" y="2039414"/>
            <a:ext cx="10370342" cy="2125369"/>
          </a:xfrm>
          <a:prstGeom prst="rect">
            <a:avLst/>
          </a:prstGeom>
          <a:ln>
            <a:noFill/>
          </a:ln>
          <a:effectLst>
            <a:softEdge rad="112500"/>
          </a:effectLst>
        </p:spPr>
      </p:pic>
      <p:pic>
        <p:nvPicPr>
          <p:cNvPr id="6" name="Picture 5" descr="Text, logo&#10;&#10;Description automatically generated">
            <a:extLst>
              <a:ext uri="{FF2B5EF4-FFF2-40B4-BE49-F238E27FC236}">
                <a16:creationId xmlns:a16="http://schemas.microsoft.com/office/drawing/2014/main" id="{B7FF255A-A98F-BAD0-033B-9CEFAA637303}"/>
              </a:ext>
            </a:extLst>
          </p:cNvPr>
          <p:cNvPicPr>
            <a:picLocks noChangeAspect="1"/>
          </p:cNvPicPr>
          <p:nvPr/>
        </p:nvPicPr>
        <p:blipFill>
          <a:blip r:embed="rId2">
            <a:alphaModFix amt="5000"/>
          </a:blip>
          <a:stretch>
            <a:fillRect/>
          </a:stretch>
        </p:blipFill>
        <p:spPr>
          <a:xfrm rot="20023087">
            <a:off x="1269151" y="2014247"/>
            <a:ext cx="10370342" cy="2125369"/>
          </a:xfrm>
          <a:prstGeom prst="rect">
            <a:avLst/>
          </a:prstGeom>
          <a:ln>
            <a:noFill/>
          </a:ln>
          <a:effectLst>
            <a:softEdge rad="112500"/>
          </a:effectLst>
        </p:spPr>
      </p:pic>
    </p:spTree>
    <p:extLst>
      <p:ext uri="{BB962C8B-B14F-4D97-AF65-F5344CB8AC3E}">
        <p14:creationId xmlns:p14="http://schemas.microsoft.com/office/powerpoint/2010/main" val="4090029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1F0450-29AB-08D4-F6D1-A0CB447135E8}"/>
              </a:ext>
            </a:extLst>
          </p:cNvPr>
          <p:cNvSpPr txBox="1"/>
          <p:nvPr/>
        </p:nvSpPr>
        <p:spPr>
          <a:xfrm>
            <a:off x="1730230" y="1639750"/>
            <a:ext cx="6094602" cy="3046988"/>
          </a:xfrm>
          <a:prstGeom prst="rect">
            <a:avLst/>
          </a:prstGeom>
          <a:noFill/>
        </p:spPr>
        <p:txBody>
          <a:bodyPr wrap="square">
            <a:spAutoFit/>
          </a:bodyPr>
          <a:lstStyle/>
          <a:p>
            <a:r>
              <a:rPr lang="en-IN" sz="1200" dirty="0"/>
              <a:t>	SecOC</a:t>
            </a:r>
          </a:p>
          <a:p>
            <a:endParaRPr lang="en-IN" sz="1200" dirty="0"/>
          </a:p>
          <a:p>
            <a:endParaRPr lang="en-IN" sz="1200" dirty="0"/>
          </a:p>
          <a:p>
            <a:br>
              <a:rPr lang="en-IN" sz="1200" dirty="0"/>
            </a:br>
            <a:r>
              <a:rPr lang="en-IN" sz="1200" dirty="0"/>
              <a:t>	CSM</a:t>
            </a:r>
          </a:p>
          <a:p>
            <a:endParaRPr lang="en-IN" sz="1200" dirty="0"/>
          </a:p>
          <a:p>
            <a:endParaRPr lang="en-IN" sz="1200" dirty="0"/>
          </a:p>
          <a:p>
            <a:endParaRPr lang="en-IN" sz="1200" dirty="0"/>
          </a:p>
          <a:p>
            <a:endParaRPr lang="en-IN" sz="1200" dirty="0"/>
          </a:p>
          <a:p>
            <a:r>
              <a:rPr lang="en-IN" sz="1200" dirty="0"/>
              <a:t>	CRY</a:t>
            </a:r>
          </a:p>
          <a:p>
            <a:endParaRPr lang="en-IN" sz="1200" dirty="0"/>
          </a:p>
          <a:p>
            <a:endParaRPr lang="en-IN" sz="1200" dirty="0"/>
          </a:p>
          <a:p>
            <a:endParaRPr lang="en-IN" sz="1200" dirty="0"/>
          </a:p>
          <a:p>
            <a:endParaRPr lang="en-IN" sz="1200" dirty="0"/>
          </a:p>
          <a:p>
            <a:pPr lvl="1"/>
            <a:r>
              <a:rPr lang="en-IN" sz="1200" dirty="0"/>
              <a:t>	</a:t>
            </a:r>
          </a:p>
          <a:p>
            <a:pPr lvl="1"/>
            <a:r>
              <a:rPr lang="en-IN" sz="1200" dirty="0"/>
              <a:t>CRIF</a:t>
            </a:r>
          </a:p>
        </p:txBody>
      </p:sp>
      <p:sp>
        <p:nvSpPr>
          <p:cNvPr id="4" name="TextBox 3">
            <a:extLst>
              <a:ext uri="{FF2B5EF4-FFF2-40B4-BE49-F238E27FC236}">
                <a16:creationId xmlns:a16="http://schemas.microsoft.com/office/drawing/2014/main" id="{4B2372C2-72FE-A331-893C-FA482142119B}"/>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US" dirty="0"/>
              <a:t>Overview of AUTOSAR crypto stack</a:t>
            </a:r>
            <a:endParaRPr lang="en-IN" dirty="0"/>
          </a:p>
        </p:txBody>
      </p:sp>
      <p:pic>
        <p:nvPicPr>
          <p:cNvPr id="5" name="Picture 4" descr="Text, logo&#10;&#10;Description automatically generated">
            <a:extLst>
              <a:ext uri="{FF2B5EF4-FFF2-40B4-BE49-F238E27FC236}">
                <a16:creationId xmlns:a16="http://schemas.microsoft.com/office/drawing/2014/main" id="{D337F30E-618C-911F-F36A-7B99D6B9B055}"/>
              </a:ext>
            </a:extLst>
          </p:cNvPr>
          <p:cNvPicPr>
            <a:picLocks noChangeAspect="1"/>
          </p:cNvPicPr>
          <p:nvPr/>
        </p:nvPicPr>
        <p:blipFill>
          <a:blip r:embed="rId2">
            <a:alphaModFix amt="5000"/>
          </a:blip>
          <a:stretch>
            <a:fillRect/>
          </a:stretch>
        </p:blipFill>
        <p:spPr>
          <a:xfrm rot="20023087">
            <a:off x="1269151" y="2039414"/>
            <a:ext cx="10370342" cy="2125369"/>
          </a:xfrm>
          <a:prstGeom prst="rect">
            <a:avLst/>
          </a:prstGeom>
          <a:ln>
            <a:noFill/>
          </a:ln>
          <a:effectLst>
            <a:softEdge rad="112500"/>
          </a:effectLst>
        </p:spPr>
      </p:pic>
    </p:spTree>
    <p:extLst>
      <p:ext uri="{BB962C8B-B14F-4D97-AF65-F5344CB8AC3E}">
        <p14:creationId xmlns:p14="http://schemas.microsoft.com/office/powerpoint/2010/main" val="2896944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851DE1-71FE-3322-4C81-5A6E00E3EF4C}"/>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US" dirty="0"/>
              <a:t>Secure boot</a:t>
            </a:r>
            <a:endParaRPr lang="en-IN" dirty="0"/>
          </a:p>
        </p:txBody>
      </p:sp>
      <p:pic>
        <p:nvPicPr>
          <p:cNvPr id="5" name="Picture 4" descr="Text, logo&#10;&#10;Description automatically generated">
            <a:extLst>
              <a:ext uri="{FF2B5EF4-FFF2-40B4-BE49-F238E27FC236}">
                <a16:creationId xmlns:a16="http://schemas.microsoft.com/office/drawing/2014/main" id="{DA7ECBEC-CCD9-0673-F5A7-383786314274}"/>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3516328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6189C6-73B7-5EBB-8296-638B9673090D}"/>
              </a:ext>
            </a:extLst>
          </p:cNvPr>
          <p:cNvSpPr txBox="1"/>
          <p:nvPr/>
        </p:nvSpPr>
        <p:spPr>
          <a:xfrm>
            <a:off x="1394669" y="1567984"/>
            <a:ext cx="6094602" cy="2308324"/>
          </a:xfrm>
          <a:prstGeom prst="rect">
            <a:avLst/>
          </a:prstGeom>
          <a:noFill/>
        </p:spPr>
        <p:txBody>
          <a:bodyPr wrap="square">
            <a:spAutoFit/>
          </a:bodyPr>
          <a:lstStyle/>
          <a:p>
            <a:pPr lvl="1"/>
            <a:br>
              <a:rPr lang="en-IN" dirty="0"/>
            </a:br>
            <a:r>
              <a:rPr lang="en-IN" dirty="0"/>
              <a:t>        	</a:t>
            </a:r>
          </a:p>
          <a:p>
            <a:pPr marL="742950" lvl="1" indent="-285750">
              <a:buFont typeface="Wingdings" panose="05000000000000000000" pitchFamily="2" charset="2"/>
              <a:buChar char="Ø"/>
            </a:pPr>
            <a:r>
              <a:rPr lang="en-IN" dirty="0"/>
              <a:t>Injection</a:t>
            </a:r>
          </a:p>
          <a:p>
            <a:pPr marL="742950" lvl="1" indent="-285750">
              <a:buFont typeface="Wingdings" panose="05000000000000000000" pitchFamily="2" charset="2"/>
              <a:buChar char="Ø"/>
            </a:pPr>
            <a:r>
              <a:rPr lang="en-IN" dirty="0"/>
              <a:t>Sniffing/Eavesdrop</a:t>
            </a:r>
          </a:p>
          <a:p>
            <a:pPr marL="742950" lvl="1" indent="-285750">
              <a:buFont typeface="Wingdings" panose="05000000000000000000" pitchFamily="2" charset="2"/>
              <a:buChar char="Ø"/>
            </a:pPr>
            <a:r>
              <a:rPr lang="en-IN" dirty="0"/>
              <a:t>Denial Of Service</a:t>
            </a:r>
          </a:p>
          <a:p>
            <a:pPr marL="742950" lvl="1" indent="-285750">
              <a:buFont typeface="Wingdings" panose="05000000000000000000" pitchFamily="2" charset="2"/>
              <a:buChar char="Ø"/>
            </a:pPr>
            <a:r>
              <a:rPr lang="en-IN" dirty="0"/>
              <a:t>Fuzzing</a:t>
            </a:r>
          </a:p>
          <a:p>
            <a:pPr marL="742950" lvl="1" indent="-285750">
              <a:buFont typeface="Wingdings" panose="05000000000000000000" pitchFamily="2" charset="2"/>
              <a:buChar char="Ø"/>
            </a:pPr>
            <a:r>
              <a:rPr lang="en-IN" dirty="0"/>
              <a:t>Replay</a:t>
            </a:r>
          </a:p>
          <a:p>
            <a:pPr marL="742950" lvl="1" indent="-285750">
              <a:buFont typeface="Wingdings" panose="05000000000000000000" pitchFamily="2" charset="2"/>
              <a:buChar char="Ø"/>
            </a:pPr>
            <a:r>
              <a:rPr lang="en-IN" dirty="0"/>
              <a:t>Impersonation</a:t>
            </a:r>
          </a:p>
        </p:txBody>
      </p:sp>
      <p:sp>
        <p:nvSpPr>
          <p:cNvPr id="3" name="TextBox 2">
            <a:extLst>
              <a:ext uri="{FF2B5EF4-FFF2-40B4-BE49-F238E27FC236}">
                <a16:creationId xmlns:a16="http://schemas.microsoft.com/office/drawing/2014/main" id="{21D7CBBB-5F8B-FBAC-CF66-D9993B03D78E}"/>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Types of Attacks</a:t>
            </a:r>
          </a:p>
        </p:txBody>
      </p:sp>
      <p:pic>
        <p:nvPicPr>
          <p:cNvPr id="4" name="Picture 3" descr="Text, logo&#10;&#10;Description automatically generated">
            <a:extLst>
              <a:ext uri="{FF2B5EF4-FFF2-40B4-BE49-F238E27FC236}">
                <a16:creationId xmlns:a16="http://schemas.microsoft.com/office/drawing/2014/main" id="{75A7A7D6-CFF4-C7AC-450D-D3C243627080}"/>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3149402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E043F1-6919-9864-B560-5C177F22C532}"/>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Sniffing/Eavesdrop</a:t>
            </a:r>
          </a:p>
        </p:txBody>
      </p:sp>
      <p:pic>
        <p:nvPicPr>
          <p:cNvPr id="4" name="Picture 3" descr="Text, logo&#10;&#10;Description automatically generated">
            <a:extLst>
              <a:ext uri="{FF2B5EF4-FFF2-40B4-BE49-F238E27FC236}">
                <a16:creationId xmlns:a16="http://schemas.microsoft.com/office/drawing/2014/main" id="{45E0CCBD-F8B7-CE94-F5A7-87C044336FDF}"/>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1936076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7610C6-4550-F6EC-B5E1-CE145861AED9}"/>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Injection</a:t>
            </a:r>
          </a:p>
        </p:txBody>
      </p:sp>
      <p:pic>
        <p:nvPicPr>
          <p:cNvPr id="4" name="Picture 3" descr="Text, logo&#10;&#10;Description automatically generated">
            <a:extLst>
              <a:ext uri="{FF2B5EF4-FFF2-40B4-BE49-F238E27FC236}">
                <a16:creationId xmlns:a16="http://schemas.microsoft.com/office/drawing/2014/main" id="{03EC9C79-66DC-6732-C3C6-12DB97EFF152}"/>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1253191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64C135-E16E-0076-4277-35A0FCD8EE0C}"/>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Denial Of Service</a:t>
            </a:r>
          </a:p>
        </p:txBody>
      </p:sp>
      <p:pic>
        <p:nvPicPr>
          <p:cNvPr id="4" name="Picture 3" descr="Text, logo&#10;&#10;Description automatically generated">
            <a:extLst>
              <a:ext uri="{FF2B5EF4-FFF2-40B4-BE49-F238E27FC236}">
                <a16:creationId xmlns:a16="http://schemas.microsoft.com/office/drawing/2014/main" id="{F0F3A128-2AB9-AC39-D521-15E4E4BA10A5}"/>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2041690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7AC68C-9B51-9F14-B7DB-D8EB86D0BDAF}"/>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Fuzzing</a:t>
            </a:r>
          </a:p>
        </p:txBody>
      </p:sp>
      <p:pic>
        <p:nvPicPr>
          <p:cNvPr id="4" name="Picture 3" descr="Text, logo&#10;&#10;Description automatically generated">
            <a:extLst>
              <a:ext uri="{FF2B5EF4-FFF2-40B4-BE49-F238E27FC236}">
                <a16:creationId xmlns:a16="http://schemas.microsoft.com/office/drawing/2014/main" id="{FBF056FC-0634-E254-8BE4-4EEECD219CAD}"/>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827131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8A74AB-D385-6685-76A1-6AC1C667D865}"/>
              </a:ext>
            </a:extLst>
          </p:cNvPr>
          <p:cNvSpPr txBox="1"/>
          <p:nvPr/>
        </p:nvSpPr>
        <p:spPr>
          <a:xfrm>
            <a:off x="1394669" y="1567984"/>
            <a:ext cx="6094602" cy="646331"/>
          </a:xfrm>
          <a:prstGeom prst="rect">
            <a:avLst/>
          </a:prstGeom>
          <a:noFill/>
        </p:spPr>
        <p:txBody>
          <a:bodyPr wrap="square">
            <a:spAutoFit/>
          </a:bodyPr>
          <a:lstStyle/>
          <a:p>
            <a:pPr lvl="1"/>
            <a:br>
              <a:rPr lang="en-IN" dirty="0"/>
            </a:br>
            <a:r>
              <a:rPr lang="en-IN" dirty="0"/>
              <a:t>        	</a:t>
            </a:r>
          </a:p>
        </p:txBody>
      </p:sp>
      <p:sp>
        <p:nvSpPr>
          <p:cNvPr id="3" name="TextBox 2">
            <a:extLst>
              <a:ext uri="{FF2B5EF4-FFF2-40B4-BE49-F238E27FC236}">
                <a16:creationId xmlns:a16="http://schemas.microsoft.com/office/drawing/2014/main" id="{D703A08B-5758-2C2B-1172-68C39488E62B}"/>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Replay</a:t>
            </a:r>
          </a:p>
        </p:txBody>
      </p:sp>
      <p:pic>
        <p:nvPicPr>
          <p:cNvPr id="4" name="Picture 3" descr="Text, logo&#10;&#10;Description automatically generated">
            <a:extLst>
              <a:ext uri="{FF2B5EF4-FFF2-40B4-BE49-F238E27FC236}">
                <a16:creationId xmlns:a16="http://schemas.microsoft.com/office/drawing/2014/main" id="{CE535B18-08E3-5232-54AC-D47C2F99478B}"/>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40669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8A74AB-D385-6685-76A1-6AC1C667D865}"/>
              </a:ext>
            </a:extLst>
          </p:cNvPr>
          <p:cNvSpPr txBox="1"/>
          <p:nvPr/>
        </p:nvSpPr>
        <p:spPr>
          <a:xfrm>
            <a:off x="1394669" y="1567984"/>
            <a:ext cx="6094602" cy="646331"/>
          </a:xfrm>
          <a:prstGeom prst="rect">
            <a:avLst/>
          </a:prstGeom>
          <a:noFill/>
        </p:spPr>
        <p:txBody>
          <a:bodyPr wrap="square">
            <a:spAutoFit/>
          </a:bodyPr>
          <a:lstStyle/>
          <a:p>
            <a:pPr lvl="1"/>
            <a:br>
              <a:rPr lang="en-IN" dirty="0"/>
            </a:br>
            <a:r>
              <a:rPr lang="en-IN" dirty="0"/>
              <a:t>        	</a:t>
            </a:r>
          </a:p>
        </p:txBody>
      </p:sp>
      <p:sp>
        <p:nvSpPr>
          <p:cNvPr id="3" name="TextBox 2">
            <a:extLst>
              <a:ext uri="{FF2B5EF4-FFF2-40B4-BE49-F238E27FC236}">
                <a16:creationId xmlns:a16="http://schemas.microsoft.com/office/drawing/2014/main" id="{D703A08B-5758-2C2B-1172-68C39488E62B}"/>
              </a:ext>
            </a:extLst>
          </p:cNvPr>
          <p:cNvSpPr txBox="1"/>
          <p:nvPr/>
        </p:nvSpPr>
        <p:spPr>
          <a:xfrm>
            <a:off x="1122793" y="348734"/>
            <a:ext cx="8639175" cy="369332"/>
          </a:xfrm>
          <a:prstGeom prst="rect">
            <a:avLst/>
          </a:prstGeom>
          <a:noFill/>
        </p:spPr>
        <p:txBody>
          <a:bodyPr wrap="square">
            <a:spAutoFit/>
          </a:bodyPr>
          <a:lstStyle>
            <a:defPPr>
              <a:defRPr lang="en-US"/>
            </a:defPPr>
            <a:lvl1pPr>
              <a:defRPr b="1"/>
            </a:lvl1pPr>
          </a:lstStyle>
          <a:p>
            <a:r>
              <a:rPr lang="en-IN" dirty="0"/>
              <a:t>Impersonation</a:t>
            </a:r>
          </a:p>
        </p:txBody>
      </p:sp>
      <p:pic>
        <p:nvPicPr>
          <p:cNvPr id="4" name="Picture 3" descr="Text, logo&#10;&#10;Description automatically generated">
            <a:extLst>
              <a:ext uri="{FF2B5EF4-FFF2-40B4-BE49-F238E27FC236}">
                <a16:creationId xmlns:a16="http://schemas.microsoft.com/office/drawing/2014/main" id="{870BC349-3DF4-7ABE-80A5-2417E912008E}"/>
              </a:ext>
            </a:extLst>
          </p:cNvPr>
          <p:cNvPicPr>
            <a:picLocks noChangeAspect="1"/>
          </p:cNvPicPr>
          <p:nvPr/>
        </p:nvPicPr>
        <p:blipFill>
          <a:blip r:embed="rId2">
            <a:alphaModFix amt="5000"/>
          </a:blip>
          <a:stretch>
            <a:fillRect/>
          </a:stretch>
        </p:blipFill>
        <p:spPr>
          <a:xfrm rot="20023087">
            <a:off x="1269151" y="2040261"/>
            <a:ext cx="10370342" cy="2125369"/>
          </a:xfrm>
          <a:prstGeom prst="rect">
            <a:avLst/>
          </a:prstGeom>
          <a:ln>
            <a:noFill/>
          </a:ln>
          <a:effectLst>
            <a:softEdge rad="112500"/>
          </a:effectLst>
        </p:spPr>
      </p:pic>
    </p:spTree>
    <p:extLst>
      <p:ext uri="{BB962C8B-B14F-4D97-AF65-F5344CB8AC3E}">
        <p14:creationId xmlns:p14="http://schemas.microsoft.com/office/powerpoint/2010/main" val="1498716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BB0509-03AE-8935-1DA0-ED70B7C3D67A}"/>
              </a:ext>
            </a:extLst>
          </p:cNvPr>
          <p:cNvSpPr txBox="1"/>
          <p:nvPr/>
        </p:nvSpPr>
        <p:spPr>
          <a:xfrm>
            <a:off x="908108" y="545176"/>
            <a:ext cx="6094602" cy="369332"/>
          </a:xfrm>
          <a:prstGeom prst="rect">
            <a:avLst/>
          </a:prstGeom>
          <a:noFill/>
        </p:spPr>
        <p:txBody>
          <a:bodyPr wrap="square">
            <a:spAutoFit/>
          </a:bodyPr>
          <a:lstStyle/>
          <a:p>
            <a:pPr lvl="1"/>
            <a:r>
              <a:rPr lang="en-IN" dirty="0"/>
              <a:t>Example in real scenario (use case) </a:t>
            </a:r>
          </a:p>
        </p:txBody>
      </p:sp>
      <p:pic>
        <p:nvPicPr>
          <p:cNvPr id="6" name="Picture 5" descr="Text, logo&#10;&#10;Description automatically generated">
            <a:extLst>
              <a:ext uri="{FF2B5EF4-FFF2-40B4-BE49-F238E27FC236}">
                <a16:creationId xmlns:a16="http://schemas.microsoft.com/office/drawing/2014/main" id="{7CC74417-AC33-BC03-DDCA-61265D2C179C}"/>
              </a:ext>
            </a:extLst>
          </p:cNvPr>
          <p:cNvPicPr>
            <a:picLocks noChangeAspect="1"/>
          </p:cNvPicPr>
          <p:nvPr/>
        </p:nvPicPr>
        <p:blipFill>
          <a:blip r:embed="rId2">
            <a:alphaModFix amt="5000"/>
          </a:blip>
          <a:stretch>
            <a:fillRect/>
          </a:stretch>
        </p:blipFill>
        <p:spPr>
          <a:xfrm rot="20023087">
            <a:off x="1269151" y="2031025"/>
            <a:ext cx="10370342" cy="2125369"/>
          </a:xfrm>
          <a:prstGeom prst="rect">
            <a:avLst/>
          </a:prstGeom>
          <a:ln>
            <a:noFill/>
          </a:ln>
          <a:effectLst>
            <a:softEdge rad="112500"/>
          </a:effectLst>
        </p:spPr>
      </p:pic>
    </p:spTree>
    <p:extLst>
      <p:ext uri="{BB962C8B-B14F-4D97-AF65-F5344CB8AC3E}">
        <p14:creationId xmlns:p14="http://schemas.microsoft.com/office/powerpoint/2010/main" val="2331364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xt, logo&#10;&#10;Description automatically generated">
            <a:extLst>
              <a:ext uri="{FF2B5EF4-FFF2-40B4-BE49-F238E27FC236}">
                <a16:creationId xmlns:a16="http://schemas.microsoft.com/office/drawing/2014/main" id="{9D8C821E-271B-48E5-9A78-DC05E69D23A6}"/>
              </a:ext>
            </a:extLst>
          </p:cNvPr>
          <p:cNvPicPr>
            <a:picLocks noChangeAspect="1"/>
          </p:cNvPicPr>
          <p:nvPr/>
        </p:nvPicPr>
        <p:blipFill>
          <a:blip r:embed="rId2">
            <a:alphaModFix amt="20000"/>
          </a:blip>
          <a:stretch>
            <a:fillRect/>
          </a:stretch>
        </p:blipFill>
        <p:spPr>
          <a:xfrm rot="20023087">
            <a:off x="456485" y="1627762"/>
            <a:ext cx="12363397" cy="2909009"/>
          </a:xfrm>
          <a:prstGeom prst="rect">
            <a:avLst/>
          </a:prstGeom>
          <a:ln>
            <a:noFill/>
          </a:ln>
          <a:effectLst>
            <a:softEdge rad="112500"/>
          </a:effectLst>
        </p:spPr>
      </p:pic>
      <p:sp>
        <p:nvSpPr>
          <p:cNvPr id="3" name="TextBox 2">
            <a:extLst>
              <a:ext uri="{FF2B5EF4-FFF2-40B4-BE49-F238E27FC236}">
                <a16:creationId xmlns:a16="http://schemas.microsoft.com/office/drawing/2014/main" id="{904301DB-B123-441D-98CB-407DE6D86674}"/>
              </a:ext>
            </a:extLst>
          </p:cNvPr>
          <p:cNvSpPr txBox="1"/>
          <p:nvPr/>
        </p:nvSpPr>
        <p:spPr>
          <a:xfrm>
            <a:off x="5849799" y="4954343"/>
            <a:ext cx="7824354" cy="646331"/>
          </a:xfrm>
          <a:prstGeom prst="rect">
            <a:avLst/>
          </a:prstGeom>
          <a:noFill/>
        </p:spPr>
        <p:txBody>
          <a:bodyPr wrap="square" rtlCol="0">
            <a:spAutoFit/>
          </a:bodyPr>
          <a:lstStyle/>
          <a:p>
            <a:r>
              <a:rPr lang="en-IN" sz="3600" dirty="0"/>
              <a:t>Keep in touch with us!</a:t>
            </a:r>
          </a:p>
        </p:txBody>
      </p:sp>
      <p:sp>
        <p:nvSpPr>
          <p:cNvPr id="5" name="TextBox 4">
            <a:extLst>
              <a:ext uri="{FF2B5EF4-FFF2-40B4-BE49-F238E27FC236}">
                <a16:creationId xmlns:a16="http://schemas.microsoft.com/office/drawing/2014/main" id="{427ECD1A-C82B-FC59-C8EA-5F40E5B16732}"/>
              </a:ext>
            </a:extLst>
          </p:cNvPr>
          <p:cNvSpPr txBox="1"/>
          <p:nvPr/>
        </p:nvSpPr>
        <p:spPr>
          <a:xfrm>
            <a:off x="5870961" y="5673476"/>
            <a:ext cx="6836634" cy="923330"/>
          </a:xfrm>
          <a:prstGeom prst="rect">
            <a:avLst/>
          </a:prstGeom>
          <a:noFill/>
        </p:spPr>
        <p:txBody>
          <a:bodyPr wrap="square">
            <a:spAutoFit/>
          </a:bodyPr>
          <a:lstStyle/>
          <a:p>
            <a:r>
              <a:rPr lang="en-IN" dirty="0">
                <a:hlinkClick r:id="rId3"/>
              </a:rPr>
              <a:t>autoronicsservices@gmail.com</a:t>
            </a:r>
            <a:endParaRPr lang="en-IN" dirty="0"/>
          </a:p>
          <a:p>
            <a:endParaRPr lang="en-IN" dirty="0"/>
          </a:p>
          <a:p>
            <a:r>
              <a:rPr lang="en-IN" i="0" dirty="0">
                <a:effectLst/>
                <a:latin typeface="-apple-system"/>
                <a:hlinkClick r:id="rId4"/>
              </a:rPr>
              <a:t>linkedin.com/in/</a:t>
            </a:r>
            <a:r>
              <a:rPr lang="en-IN" i="0" dirty="0" err="1">
                <a:effectLst/>
                <a:latin typeface="-apple-system"/>
                <a:hlinkClick r:id="rId4"/>
              </a:rPr>
              <a:t>autoronics</a:t>
            </a:r>
            <a:r>
              <a:rPr lang="en-IN" i="0" dirty="0">
                <a:effectLst/>
                <a:latin typeface="-apple-system"/>
                <a:hlinkClick r:id="rId4"/>
              </a:rPr>
              <a:t>-services</a:t>
            </a:r>
            <a:endParaRPr lang="en-IN" dirty="0"/>
          </a:p>
        </p:txBody>
      </p:sp>
    </p:spTree>
    <p:extLst>
      <p:ext uri="{BB962C8B-B14F-4D97-AF65-F5344CB8AC3E}">
        <p14:creationId xmlns:p14="http://schemas.microsoft.com/office/powerpoint/2010/main" val="22218152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3492</TotalTime>
  <Words>1520</Words>
  <Application>Microsoft Office PowerPoint</Application>
  <PresentationFormat>Widescreen</PresentationFormat>
  <Paragraphs>163</Paragraphs>
  <Slides>32</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-apple-system</vt:lpstr>
      <vt:lpstr>Arial</vt:lpstr>
      <vt:lpstr>Calibri</vt:lpstr>
      <vt:lpstr>HelveticaNeueLTCom-Roman</vt:lpstr>
      <vt:lpstr>MS Shell Dlg 2</vt:lpstr>
      <vt:lpstr>Quire Sans</vt:lpstr>
      <vt:lpstr>Wingdings</vt:lpstr>
      <vt:lpstr>Wingdings 3</vt: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Kannadhasan, Amarnath</dc:creator>
  <cp:lastModifiedBy>Kannadhasan, Amarnath</cp:lastModifiedBy>
  <cp:revision>249</cp:revision>
  <dcterms:created xsi:type="dcterms:W3CDTF">2021-07-06T14:38:08Z</dcterms:created>
  <dcterms:modified xsi:type="dcterms:W3CDTF">2022-07-09T19:19:11Z</dcterms:modified>
</cp:coreProperties>
</file>